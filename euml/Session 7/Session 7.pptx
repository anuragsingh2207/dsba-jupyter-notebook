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12192000" cy="6858000"/>
  <p:embeddedFontLst>
    <p:embeddedFont>
      <p:font typeface="Cambria Math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isweWvLUNgLIV72VAlEJkNS7R1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22AE3F-4142-4F11-B99B-A4AEEC654418}">
  <a:tblStyle styleId="{FA22AE3F-4142-4F11-B99B-A4AEEC65441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ambriaMath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1824079" y="1506220"/>
            <a:ext cx="7553325" cy="314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1824079" y="1506220"/>
            <a:ext cx="7553325" cy="314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1" type="ftr"/>
          </p:nvPr>
        </p:nvSpPr>
        <p:spPr>
          <a:xfrm>
            <a:off x="4015651" y="6386498"/>
            <a:ext cx="4161154" cy="139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38100">
              <a:lnSpc>
                <a:spcPct val="100000"/>
              </a:lnSpc>
              <a:spcBef>
                <a:spcPts val="0"/>
              </a:spcBef>
              <a:buNone/>
              <a:defRPr b="0" i="0" sz="1000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7.png"/><Relationship Id="rId11" Type="http://schemas.openxmlformats.org/officeDocument/2006/relationships/image" Target="../media/image10.png"/><Relationship Id="rId22" Type="http://schemas.openxmlformats.org/officeDocument/2006/relationships/image" Target="../media/image31.png"/><Relationship Id="rId10" Type="http://schemas.openxmlformats.org/officeDocument/2006/relationships/image" Target="../media/image6.png"/><Relationship Id="rId21" Type="http://schemas.openxmlformats.org/officeDocument/2006/relationships/image" Target="../media/image19.png"/><Relationship Id="rId13" Type="http://schemas.openxmlformats.org/officeDocument/2006/relationships/image" Target="../media/image12.png"/><Relationship Id="rId12" Type="http://schemas.openxmlformats.org/officeDocument/2006/relationships/image" Target="../media/image8.png"/><Relationship Id="rId23" Type="http://schemas.openxmlformats.org/officeDocument/2006/relationships/hyperlink" Target="http://stackoverflow.com/questions/9480605/what-is-the-" TargetMode="External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9" Type="http://schemas.openxmlformats.org/officeDocument/2006/relationships/image" Target="../media/image9.png"/><Relationship Id="rId15" Type="http://schemas.openxmlformats.org/officeDocument/2006/relationships/image" Target="../media/image11.png"/><Relationship Id="rId14" Type="http://schemas.openxmlformats.org/officeDocument/2006/relationships/image" Target="../media/image14.jp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5" Type="http://schemas.openxmlformats.org/officeDocument/2006/relationships/image" Target="../media/image5.png"/><Relationship Id="rId19" Type="http://schemas.openxmlformats.org/officeDocument/2006/relationships/image" Target="../media/image15.png"/><Relationship Id="rId6" Type="http://schemas.openxmlformats.org/officeDocument/2006/relationships/image" Target="../media/image3.jpg"/><Relationship Id="rId18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jpg"/><Relationship Id="rId4" Type="http://schemas.openxmlformats.org/officeDocument/2006/relationships/image" Target="../media/image21.jpg"/></Relationships>
</file>

<file path=ppt/slides/_rels/slide3.xml.rels><?xml version="1.0" encoding="UTF-8" standalone="yes"?><Relationships xmlns="http://schemas.openxmlformats.org/package/2006/relationships"><Relationship Id="rId10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28.png"/><Relationship Id="rId8" Type="http://schemas.openxmlformats.org/officeDocument/2006/relationships/image" Target="../media/image2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jpg"/><Relationship Id="rId4" Type="http://schemas.openxmlformats.org/officeDocument/2006/relationships/image" Target="../media/image3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4.jpg"/><Relationship Id="rId4" Type="http://schemas.openxmlformats.org/officeDocument/2006/relationships/image" Target="../media/image35.jpg"/><Relationship Id="rId9" Type="http://schemas.openxmlformats.org/officeDocument/2006/relationships/image" Target="../media/image39.png"/><Relationship Id="rId5" Type="http://schemas.openxmlformats.org/officeDocument/2006/relationships/image" Target="../media/image33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0.jpg"/><Relationship Id="rId4" Type="http://schemas.openxmlformats.org/officeDocument/2006/relationships/image" Target="../media/image41.jpg"/><Relationship Id="rId5" Type="http://schemas.openxmlformats.org/officeDocument/2006/relationships/image" Target="../media/image4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Relationship Id="rId5" Type="http://schemas.openxmlformats.org/officeDocument/2006/relationships/image" Target="../media/image45.png"/><Relationship Id="rId6" Type="http://schemas.openxmlformats.org/officeDocument/2006/relationships/image" Target="../media/image47.png"/><Relationship Id="rId7" Type="http://schemas.openxmlformats.org/officeDocument/2006/relationships/image" Target="../media/image46.png"/><Relationship Id="rId8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3.jpg"/><Relationship Id="rId4" Type="http://schemas.openxmlformats.org/officeDocument/2006/relationships/image" Target="../media/image4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1"/>
          <p:cNvGrpSpPr/>
          <p:nvPr/>
        </p:nvGrpSpPr>
        <p:grpSpPr>
          <a:xfrm>
            <a:off x="2338578" y="1848002"/>
            <a:ext cx="8039505" cy="4726532"/>
            <a:chOff x="2338578" y="1848002"/>
            <a:chExt cx="8039505" cy="4726532"/>
          </a:xfrm>
        </p:grpSpPr>
        <p:pic>
          <p:nvPicPr>
            <p:cNvPr id="44" name="Google Shape;44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69579" y="1848002"/>
              <a:ext cx="1908504" cy="24104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" name="Google Shape;45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338578" y="2212847"/>
              <a:ext cx="3395471" cy="32735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" name="Google Shape;46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401567" y="3830573"/>
              <a:ext cx="1045463" cy="5448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" name="Google Shape;47;p1"/>
            <p:cNvSpPr/>
            <p:nvPr/>
          </p:nvSpPr>
          <p:spPr>
            <a:xfrm>
              <a:off x="3448112" y="3853759"/>
              <a:ext cx="953135" cy="452755"/>
            </a:xfrm>
            <a:custGeom>
              <a:rect b="b" l="l" r="r" t="t"/>
              <a:pathLst>
                <a:path extrusionOk="0" h="452754" w="953135">
                  <a:moveTo>
                    <a:pt x="0" y="185217"/>
                  </a:moveTo>
                  <a:lnTo>
                    <a:pt x="22099" y="127499"/>
                  </a:lnTo>
                  <a:lnTo>
                    <a:pt x="74693" y="78446"/>
                  </a:lnTo>
                  <a:lnTo>
                    <a:pt x="110950" y="57710"/>
                  </a:lnTo>
                  <a:lnTo>
                    <a:pt x="153060" y="39790"/>
                  </a:lnTo>
                  <a:lnTo>
                    <a:pt x="200431" y="24902"/>
                  </a:lnTo>
                  <a:lnTo>
                    <a:pt x="252475" y="13262"/>
                  </a:lnTo>
                  <a:lnTo>
                    <a:pt x="308599" y="5088"/>
                  </a:lnTo>
                  <a:lnTo>
                    <a:pt x="368214" y="595"/>
                  </a:lnTo>
                  <a:lnTo>
                    <a:pt x="430729" y="0"/>
                  </a:lnTo>
                  <a:lnTo>
                    <a:pt x="495554" y="3519"/>
                  </a:lnTo>
                  <a:lnTo>
                    <a:pt x="560029" y="11102"/>
                  </a:lnTo>
                  <a:lnTo>
                    <a:pt x="621528" y="22345"/>
                  </a:lnTo>
                  <a:lnTo>
                    <a:pt x="679503" y="36934"/>
                  </a:lnTo>
                  <a:lnTo>
                    <a:pt x="733412" y="54556"/>
                  </a:lnTo>
                  <a:lnTo>
                    <a:pt x="782709" y="74896"/>
                  </a:lnTo>
                  <a:lnTo>
                    <a:pt x="826849" y="97641"/>
                  </a:lnTo>
                  <a:lnTo>
                    <a:pt x="865287" y="122477"/>
                  </a:lnTo>
                  <a:lnTo>
                    <a:pt x="897478" y="149090"/>
                  </a:lnTo>
                  <a:lnTo>
                    <a:pt x="940942" y="206390"/>
                  </a:lnTo>
                  <a:lnTo>
                    <a:pt x="952881" y="267031"/>
                  </a:lnTo>
                  <a:lnTo>
                    <a:pt x="945938" y="296865"/>
                  </a:lnTo>
                  <a:lnTo>
                    <a:pt x="908001" y="350467"/>
                  </a:lnTo>
                  <a:lnTo>
                    <a:pt x="841930" y="394538"/>
                  </a:lnTo>
                  <a:lnTo>
                    <a:pt x="799820" y="412459"/>
                  </a:lnTo>
                  <a:lnTo>
                    <a:pt x="752449" y="427347"/>
                  </a:lnTo>
                  <a:lnTo>
                    <a:pt x="700405" y="438986"/>
                  </a:lnTo>
                  <a:lnTo>
                    <a:pt x="644281" y="447161"/>
                  </a:lnTo>
                  <a:lnTo>
                    <a:pt x="584666" y="451654"/>
                  </a:lnTo>
                  <a:lnTo>
                    <a:pt x="522151" y="452249"/>
                  </a:lnTo>
                  <a:lnTo>
                    <a:pt x="457327" y="448730"/>
                  </a:lnTo>
                  <a:lnTo>
                    <a:pt x="392851" y="441147"/>
                  </a:lnTo>
                  <a:lnTo>
                    <a:pt x="331352" y="429904"/>
                  </a:lnTo>
                  <a:lnTo>
                    <a:pt x="273377" y="415314"/>
                  </a:lnTo>
                  <a:lnTo>
                    <a:pt x="219468" y="397692"/>
                  </a:lnTo>
                  <a:lnTo>
                    <a:pt x="170171" y="377352"/>
                  </a:lnTo>
                  <a:lnTo>
                    <a:pt x="126031" y="354607"/>
                  </a:lnTo>
                  <a:lnTo>
                    <a:pt x="87593" y="329771"/>
                  </a:lnTo>
                  <a:lnTo>
                    <a:pt x="55402" y="303159"/>
                  </a:lnTo>
                  <a:lnTo>
                    <a:pt x="11938" y="245858"/>
                  </a:lnTo>
                  <a:lnTo>
                    <a:pt x="0" y="185217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8" name="Google Shape;48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791212" y="3031997"/>
              <a:ext cx="2743187" cy="16923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" name="Google Shape;49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361681" y="3870197"/>
              <a:ext cx="584454" cy="5844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" name="Google Shape;50;p1"/>
            <p:cNvSpPr/>
            <p:nvPr/>
          </p:nvSpPr>
          <p:spPr>
            <a:xfrm>
              <a:off x="7532827" y="3900297"/>
              <a:ext cx="363855" cy="363855"/>
            </a:xfrm>
            <a:custGeom>
              <a:rect b="b" l="l" r="r" t="t"/>
              <a:pathLst>
                <a:path extrusionOk="0" h="363854" w="363854">
                  <a:moveTo>
                    <a:pt x="363397" y="0"/>
                  </a:moveTo>
                  <a:lnTo>
                    <a:pt x="0" y="363397"/>
                  </a:lnTo>
                </a:path>
              </a:pathLst>
            </a:custGeom>
            <a:noFill/>
            <a:ln cap="flat" cmpd="sng" w="25125">
              <a:solidFill>
                <a:srgbClr val="FDE0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1"/>
            <p:cNvSpPr/>
            <p:nvPr/>
          </p:nvSpPr>
          <p:spPr>
            <a:xfrm>
              <a:off x="7532832" y="4178379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22440" y="0"/>
                  </a:moveTo>
                  <a:lnTo>
                    <a:pt x="0" y="85318"/>
                  </a:lnTo>
                  <a:lnTo>
                    <a:pt x="85305" y="62865"/>
                  </a:lnTo>
                </a:path>
              </a:pathLst>
            </a:custGeom>
            <a:noFill/>
            <a:ln cap="flat" cmpd="sng" w="25125">
              <a:solidFill>
                <a:srgbClr val="FDE06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2" name="Google Shape;52;p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198869" y="3203447"/>
              <a:ext cx="432053" cy="432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1"/>
            <p:cNvSpPr/>
            <p:nvPr/>
          </p:nvSpPr>
          <p:spPr>
            <a:xfrm>
              <a:off x="6248780" y="3354781"/>
              <a:ext cx="211454" cy="211454"/>
            </a:xfrm>
            <a:custGeom>
              <a:rect b="b" l="l" r="r" t="t"/>
              <a:pathLst>
                <a:path extrusionOk="0" h="211454" w="211454">
                  <a:moveTo>
                    <a:pt x="0" y="210997"/>
                  </a:moveTo>
                  <a:lnTo>
                    <a:pt x="210997" y="0"/>
                  </a:lnTo>
                </a:path>
              </a:pathLst>
            </a:custGeom>
            <a:noFill/>
            <a:ln cap="flat" cmpd="sng" w="251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1"/>
            <p:cNvSpPr/>
            <p:nvPr/>
          </p:nvSpPr>
          <p:spPr>
            <a:xfrm>
              <a:off x="6374466" y="3354777"/>
              <a:ext cx="85725" cy="85725"/>
            </a:xfrm>
            <a:custGeom>
              <a:rect b="b" l="l" r="r" t="t"/>
              <a:pathLst>
                <a:path extrusionOk="0" h="85725" w="85725">
                  <a:moveTo>
                    <a:pt x="62864" y="85318"/>
                  </a:moveTo>
                  <a:lnTo>
                    <a:pt x="85305" y="0"/>
                  </a:lnTo>
                  <a:lnTo>
                    <a:pt x="0" y="22453"/>
                  </a:lnTo>
                </a:path>
              </a:pathLst>
            </a:custGeom>
            <a:noFill/>
            <a:ln cap="flat" cmpd="sng" w="251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" name="Google Shape;55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5295138" y="3317747"/>
              <a:ext cx="681227" cy="502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5342724" y="3342360"/>
              <a:ext cx="586838" cy="40547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" name="Google Shape;57;p1"/>
            <p:cNvSpPr/>
            <p:nvPr/>
          </p:nvSpPr>
          <p:spPr>
            <a:xfrm>
              <a:off x="5342715" y="3342355"/>
              <a:ext cx="587375" cy="405765"/>
            </a:xfrm>
            <a:custGeom>
              <a:rect b="b" l="l" r="r" t="t"/>
              <a:pathLst>
                <a:path extrusionOk="0" h="405764" w="587375">
                  <a:moveTo>
                    <a:pt x="62166" y="0"/>
                  </a:moveTo>
                  <a:lnTo>
                    <a:pt x="497649" y="225069"/>
                  </a:lnTo>
                  <a:lnTo>
                    <a:pt x="528739" y="164934"/>
                  </a:lnTo>
                  <a:lnTo>
                    <a:pt x="586841" y="347370"/>
                  </a:lnTo>
                  <a:lnTo>
                    <a:pt x="404406" y="405485"/>
                  </a:lnTo>
                  <a:lnTo>
                    <a:pt x="435495" y="345351"/>
                  </a:lnTo>
                  <a:lnTo>
                    <a:pt x="0" y="120269"/>
                  </a:lnTo>
                  <a:lnTo>
                    <a:pt x="62166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00A0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8" name="Google Shape;58;p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7929372" y="2786633"/>
              <a:ext cx="627887" cy="5577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1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9749790" y="3551682"/>
              <a:ext cx="541019" cy="51815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618982" y="2332481"/>
              <a:ext cx="1475231" cy="13990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" name="Google Shape;61;p1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426958" y="2513837"/>
              <a:ext cx="1475231" cy="13990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" name="Google Shape;62;p1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458200" y="4876800"/>
              <a:ext cx="1916429" cy="1523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3" name="Google Shape;63;p1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9041892" y="4378451"/>
              <a:ext cx="374903" cy="7231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4" name="Google Shape;64;p1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7009638" y="5149595"/>
              <a:ext cx="1800605" cy="10439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162038" y="6062471"/>
              <a:ext cx="2558795" cy="5120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7162038" y="5453633"/>
              <a:ext cx="2712719" cy="8923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1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</a:t>
            </a:r>
            <a:endParaRPr/>
          </a:p>
        </p:txBody>
      </p:sp>
      <p:sp>
        <p:nvSpPr>
          <p:cNvPr id="68" name="Google Shape;68;p1"/>
          <p:cNvSpPr txBox="1"/>
          <p:nvPr/>
        </p:nvSpPr>
        <p:spPr>
          <a:xfrm>
            <a:off x="5958840" y="2036785"/>
            <a:ext cx="2698200" cy="4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06680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Max margin hyper plane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"/>
          <p:cNvGrpSpPr/>
          <p:nvPr/>
        </p:nvGrpSpPr>
        <p:grpSpPr>
          <a:xfrm>
            <a:off x="5750052" y="1658111"/>
            <a:ext cx="4806695" cy="4882895"/>
            <a:chOff x="5750052" y="1658111"/>
            <a:chExt cx="4806695" cy="4882895"/>
          </a:xfrm>
        </p:grpSpPr>
        <p:pic>
          <p:nvPicPr>
            <p:cNvPr id="70" name="Google Shape;70;p1"/>
            <p:cNvPicPr preferRelativeResize="0"/>
            <p:nvPr/>
          </p:nvPicPr>
          <p:blipFill rotWithShape="1">
            <a:blip r:embed="rId19">
              <a:alphaModFix/>
            </a:blip>
            <a:srcRect b="0" l="0" r="0" t="0"/>
            <a:stretch/>
          </p:blipFill>
          <p:spPr>
            <a:xfrm>
              <a:off x="7896605" y="2216657"/>
              <a:ext cx="849628" cy="4236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" name="Google Shape;71;p1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5750052" y="1658111"/>
              <a:ext cx="4806695" cy="45780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1"/>
            <p:cNvSpPr/>
            <p:nvPr/>
          </p:nvSpPr>
          <p:spPr>
            <a:xfrm>
              <a:off x="5791200" y="1676399"/>
              <a:ext cx="4724400" cy="4495800"/>
            </a:xfrm>
            <a:custGeom>
              <a:rect b="b" l="l" r="r" t="t"/>
              <a:pathLst>
                <a:path extrusionOk="0" h="4495800" w="4724400">
                  <a:moveTo>
                    <a:pt x="4724400" y="0"/>
                  </a:moveTo>
                  <a:lnTo>
                    <a:pt x="0" y="0"/>
                  </a:lnTo>
                  <a:lnTo>
                    <a:pt x="0" y="4495800"/>
                  </a:lnTo>
                  <a:lnTo>
                    <a:pt x="4724400" y="4495800"/>
                  </a:lnTo>
                  <a:lnTo>
                    <a:pt x="47244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3" name="Google Shape;73;p1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8340852" y="1962911"/>
              <a:ext cx="2215895" cy="25968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4" name="Google Shape;74;p1"/>
            <p:cNvSpPr/>
            <p:nvPr/>
          </p:nvSpPr>
          <p:spPr>
            <a:xfrm>
              <a:off x="8382000" y="1981199"/>
              <a:ext cx="2133600" cy="2514600"/>
            </a:xfrm>
            <a:custGeom>
              <a:rect b="b" l="l" r="r" t="t"/>
              <a:pathLst>
                <a:path extrusionOk="0" h="2514600" w="2133600">
                  <a:moveTo>
                    <a:pt x="2133600" y="0"/>
                  </a:moveTo>
                  <a:lnTo>
                    <a:pt x="0" y="0"/>
                  </a:lnTo>
                  <a:lnTo>
                    <a:pt x="0" y="2514600"/>
                  </a:lnTo>
                  <a:lnTo>
                    <a:pt x="2133600" y="2514600"/>
                  </a:lnTo>
                  <a:lnTo>
                    <a:pt x="21336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5" name="Google Shape;75;p1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5826251" y="4858511"/>
              <a:ext cx="4654295" cy="168249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" name="Google Shape;76;p1"/>
            <p:cNvSpPr/>
            <p:nvPr/>
          </p:nvSpPr>
          <p:spPr>
            <a:xfrm>
              <a:off x="5867400" y="4876800"/>
              <a:ext cx="4572000" cy="1600200"/>
            </a:xfrm>
            <a:custGeom>
              <a:rect b="b" l="l" r="r" t="t"/>
              <a:pathLst>
                <a:path extrusionOk="0" h="1600200" w="4572000">
                  <a:moveTo>
                    <a:pt x="4572000" y="0"/>
                  </a:moveTo>
                  <a:lnTo>
                    <a:pt x="0" y="0"/>
                  </a:lnTo>
                  <a:lnTo>
                    <a:pt x="0" y="1600200"/>
                  </a:lnTo>
                  <a:lnTo>
                    <a:pt x="4572000" y="160020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"/>
          <p:cNvSpPr txBox="1"/>
          <p:nvPr/>
        </p:nvSpPr>
        <p:spPr>
          <a:xfrm>
            <a:off x="1951075" y="1270472"/>
            <a:ext cx="80493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1.	Known as maximum-margin hyperplane, find that linear model with max margi. Unlike the linear classifiers, objective is not minimizing sum of squared errors but finding a line/plane that separates two or more groups with maximum margins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/>
          <p:nvPr/>
        </p:nvSpPr>
        <p:spPr>
          <a:xfrm>
            <a:off x="2059550" y="5723600"/>
            <a:ext cx="87504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29432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3"/>
              </a:rPr>
              <a:t>http://stackoverflow.com/questions/9480605/what-is-the-</a:t>
            </a:r>
            <a:r>
              <a:rPr lang="en-US" sz="1000">
                <a:latin typeface="Arial"/>
                <a:ea typeface="Arial"/>
                <a:cs typeface="Arial"/>
                <a:sym typeface="Arial"/>
              </a:rPr>
              <a:t> relation-between-the-number-of-support-vectors-and- training-data-and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</a:t>
            </a:r>
            <a:endParaRPr/>
          </a:p>
        </p:txBody>
      </p:sp>
      <p:grpSp>
        <p:nvGrpSpPr>
          <p:cNvPr id="85" name="Google Shape;85;p2"/>
          <p:cNvGrpSpPr/>
          <p:nvPr/>
        </p:nvGrpSpPr>
        <p:grpSpPr>
          <a:xfrm>
            <a:off x="1905000" y="1066800"/>
            <a:ext cx="8351001" cy="2438399"/>
            <a:chOff x="1905000" y="1066800"/>
            <a:chExt cx="8351001" cy="2438399"/>
          </a:xfrm>
        </p:grpSpPr>
        <p:pic>
          <p:nvPicPr>
            <p:cNvPr id="86" name="Google Shape;86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807856" y="1308759"/>
              <a:ext cx="2448145" cy="19267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5000" y="1066800"/>
              <a:ext cx="5915393" cy="2438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" name="Google Shape;88;p2"/>
          <p:cNvSpPr txBox="1"/>
          <p:nvPr/>
        </p:nvSpPr>
        <p:spPr>
          <a:xfrm>
            <a:off x="2016396" y="3305049"/>
            <a:ext cx="789570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284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Image Source : https://dzone.com/articles/support-vector-machines-tutorial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7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First line does separate the two sets but id too close to both red &amp; green data points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45085" rtl="0" algn="l">
              <a:lnSpc>
                <a:spcPct val="150000"/>
              </a:lnSpc>
              <a:spcBef>
                <a:spcPts val="384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Chances are that when this model is put in production, variance in both cluster data may force some data points on wrong side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141605" rtl="0" algn="l">
              <a:lnSpc>
                <a:spcPct val="150000"/>
              </a:lnSpc>
              <a:spcBef>
                <a:spcPts val="38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second line doesn’t look so vulnerable to the variance. The two points nearest from different clusters define the margin around the line and are support vectors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96520" rtl="0" algn="l">
              <a:lnSpc>
                <a:spcPct val="150000"/>
              </a:lnSpc>
              <a:spcBef>
                <a:spcPts val="385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SVMs try to find the second kind of line where the line is at max distance from both the clusters simultaneously</a:t>
            </a:r>
            <a:endParaRPr sz="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</a:t>
            </a:r>
            <a:endParaRPr/>
          </a:p>
        </p:txBody>
      </p:sp>
      <p:grpSp>
        <p:nvGrpSpPr>
          <p:cNvPr id="95" name="Google Shape;95;p3"/>
          <p:cNvGrpSpPr/>
          <p:nvPr/>
        </p:nvGrpSpPr>
        <p:grpSpPr>
          <a:xfrm>
            <a:off x="1482852" y="1158240"/>
            <a:ext cx="5798057" cy="4327684"/>
            <a:chOff x="1482852" y="1158240"/>
            <a:chExt cx="5798057" cy="4327684"/>
          </a:xfrm>
        </p:grpSpPr>
        <p:pic>
          <p:nvPicPr>
            <p:cNvPr id="96" name="Google Shape;9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53748" y="1320816"/>
              <a:ext cx="4245869" cy="41651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3"/>
            <p:cNvSpPr/>
            <p:nvPr/>
          </p:nvSpPr>
          <p:spPr>
            <a:xfrm>
              <a:off x="4568929" y="2903861"/>
              <a:ext cx="433070" cy="155575"/>
            </a:xfrm>
            <a:custGeom>
              <a:rect b="b" l="l" r="r" t="t"/>
              <a:pathLst>
                <a:path extrusionOk="0" h="155575" w="433070">
                  <a:moveTo>
                    <a:pt x="16078" y="64338"/>
                  </a:moveTo>
                  <a:lnTo>
                    <a:pt x="0" y="65595"/>
                  </a:lnTo>
                  <a:lnTo>
                    <a:pt x="35318" y="155168"/>
                  </a:lnTo>
                  <a:lnTo>
                    <a:pt x="51562" y="153885"/>
                  </a:lnTo>
                  <a:lnTo>
                    <a:pt x="54898" y="135432"/>
                  </a:lnTo>
                  <a:lnTo>
                    <a:pt x="41846" y="135432"/>
                  </a:lnTo>
                  <a:lnTo>
                    <a:pt x="16078" y="64338"/>
                  </a:lnTo>
                  <a:close/>
                </a:path>
                <a:path extrusionOk="0" h="155575" w="433070">
                  <a:moveTo>
                    <a:pt x="78985" y="81813"/>
                  </a:moveTo>
                  <a:lnTo>
                    <a:pt x="64592" y="81813"/>
                  </a:lnTo>
                  <a:lnTo>
                    <a:pt x="69367" y="97180"/>
                  </a:lnTo>
                  <a:lnTo>
                    <a:pt x="88303" y="150990"/>
                  </a:lnTo>
                  <a:lnTo>
                    <a:pt x="104457" y="149720"/>
                  </a:lnTo>
                  <a:lnTo>
                    <a:pt x="109115" y="129311"/>
                  </a:lnTo>
                  <a:lnTo>
                    <a:pt x="95377" y="129311"/>
                  </a:lnTo>
                  <a:lnTo>
                    <a:pt x="89408" y="112128"/>
                  </a:lnTo>
                  <a:lnTo>
                    <a:pt x="78985" y="81813"/>
                  </a:lnTo>
                  <a:close/>
                </a:path>
                <a:path extrusionOk="0" h="155575" w="433070">
                  <a:moveTo>
                    <a:pt x="71475" y="59969"/>
                  </a:moveTo>
                  <a:lnTo>
                    <a:pt x="55486" y="61226"/>
                  </a:lnTo>
                  <a:lnTo>
                    <a:pt x="45110" y="116128"/>
                  </a:lnTo>
                  <a:lnTo>
                    <a:pt x="41998" y="134442"/>
                  </a:lnTo>
                  <a:lnTo>
                    <a:pt x="41846" y="135432"/>
                  </a:lnTo>
                  <a:lnTo>
                    <a:pt x="54898" y="135432"/>
                  </a:lnTo>
                  <a:lnTo>
                    <a:pt x="64592" y="81813"/>
                  </a:lnTo>
                  <a:lnTo>
                    <a:pt x="78985" y="81813"/>
                  </a:lnTo>
                  <a:lnTo>
                    <a:pt x="71475" y="59969"/>
                  </a:lnTo>
                  <a:close/>
                </a:path>
                <a:path extrusionOk="0" h="155575" w="433070">
                  <a:moveTo>
                    <a:pt x="125920" y="55676"/>
                  </a:moveTo>
                  <a:lnTo>
                    <a:pt x="110794" y="56870"/>
                  </a:lnTo>
                  <a:lnTo>
                    <a:pt x="99250" y="111175"/>
                  </a:lnTo>
                  <a:lnTo>
                    <a:pt x="95377" y="129311"/>
                  </a:lnTo>
                  <a:lnTo>
                    <a:pt x="109115" y="129311"/>
                  </a:lnTo>
                  <a:lnTo>
                    <a:pt x="125920" y="55676"/>
                  </a:lnTo>
                  <a:close/>
                </a:path>
                <a:path extrusionOk="0" h="155575" w="433070">
                  <a:moveTo>
                    <a:pt x="150355" y="53759"/>
                  </a:moveTo>
                  <a:lnTo>
                    <a:pt x="130911" y="55283"/>
                  </a:lnTo>
                  <a:lnTo>
                    <a:pt x="165404" y="96926"/>
                  </a:lnTo>
                  <a:lnTo>
                    <a:pt x="135623" y="147269"/>
                  </a:lnTo>
                  <a:lnTo>
                    <a:pt x="154470" y="145783"/>
                  </a:lnTo>
                  <a:lnTo>
                    <a:pt x="175729" y="107670"/>
                  </a:lnTo>
                  <a:lnTo>
                    <a:pt x="194370" y="107670"/>
                  </a:lnTo>
                  <a:lnTo>
                    <a:pt x="183565" y="94615"/>
                  </a:lnTo>
                  <a:lnTo>
                    <a:pt x="190175" y="83947"/>
                  </a:lnTo>
                  <a:lnTo>
                    <a:pt x="173342" y="83947"/>
                  </a:lnTo>
                  <a:lnTo>
                    <a:pt x="171513" y="81305"/>
                  </a:lnTo>
                  <a:lnTo>
                    <a:pt x="169100" y="78041"/>
                  </a:lnTo>
                  <a:lnTo>
                    <a:pt x="150355" y="53759"/>
                  </a:lnTo>
                  <a:close/>
                </a:path>
                <a:path extrusionOk="0" h="155575" w="433070">
                  <a:moveTo>
                    <a:pt x="194370" y="107670"/>
                  </a:moveTo>
                  <a:lnTo>
                    <a:pt x="175729" y="107670"/>
                  </a:lnTo>
                  <a:lnTo>
                    <a:pt x="181343" y="114973"/>
                  </a:lnTo>
                  <a:lnTo>
                    <a:pt x="202438" y="142011"/>
                  </a:lnTo>
                  <a:lnTo>
                    <a:pt x="221538" y="140500"/>
                  </a:lnTo>
                  <a:lnTo>
                    <a:pt x="194370" y="107670"/>
                  </a:lnTo>
                  <a:close/>
                </a:path>
                <a:path extrusionOk="0" h="155575" w="433070">
                  <a:moveTo>
                    <a:pt x="211886" y="48907"/>
                  </a:moveTo>
                  <a:lnTo>
                    <a:pt x="193306" y="50368"/>
                  </a:lnTo>
                  <a:lnTo>
                    <a:pt x="179539" y="73279"/>
                  </a:lnTo>
                  <a:lnTo>
                    <a:pt x="177647" y="76390"/>
                  </a:lnTo>
                  <a:lnTo>
                    <a:pt x="175577" y="79946"/>
                  </a:lnTo>
                  <a:lnTo>
                    <a:pt x="173342" y="83947"/>
                  </a:lnTo>
                  <a:lnTo>
                    <a:pt x="190175" y="83947"/>
                  </a:lnTo>
                  <a:lnTo>
                    <a:pt x="211886" y="48907"/>
                  </a:lnTo>
                  <a:close/>
                </a:path>
                <a:path extrusionOk="0" h="155575" w="433070">
                  <a:moveTo>
                    <a:pt x="277979" y="81648"/>
                  </a:moveTo>
                  <a:lnTo>
                    <a:pt x="263194" y="81648"/>
                  </a:lnTo>
                  <a:lnTo>
                    <a:pt x="265938" y="116395"/>
                  </a:lnTo>
                  <a:lnTo>
                    <a:pt x="280631" y="115239"/>
                  </a:lnTo>
                  <a:lnTo>
                    <a:pt x="277979" y="81648"/>
                  </a:lnTo>
                  <a:close/>
                </a:path>
                <a:path extrusionOk="0" h="155575" w="433070">
                  <a:moveTo>
                    <a:pt x="274027" y="31496"/>
                  </a:moveTo>
                  <a:lnTo>
                    <a:pt x="259334" y="32651"/>
                  </a:lnTo>
                  <a:lnTo>
                    <a:pt x="262051" y="67132"/>
                  </a:lnTo>
                  <a:lnTo>
                    <a:pt x="227571" y="69850"/>
                  </a:lnTo>
                  <a:lnTo>
                    <a:pt x="228714" y="84366"/>
                  </a:lnTo>
                  <a:lnTo>
                    <a:pt x="263194" y="81648"/>
                  </a:lnTo>
                  <a:lnTo>
                    <a:pt x="277979" y="81648"/>
                  </a:lnTo>
                  <a:lnTo>
                    <a:pt x="277888" y="80492"/>
                  </a:lnTo>
                  <a:lnTo>
                    <a:pt x="312369" y="77774"/>
                  </a:lnTo>
                  <a:lnTo>
                    <a:pt x="311440" y="65976"/>
                  </a:lnTo>
                  <a:lnTo>
                    <a:pt x="276745" y="65976"/>
                  </a:lnTo>
                  <a:lnTo>
                    <a:pt x="274027" y="31496"/>
                  </a:lnTo>
                  <a:close/>
                </a:path>
                <a:path extrusionOk="0" h="155575" w="433070">
                  <a:moveTo>
                    <a:pt x="311226" y="63258"/>
                  </a:moveTo>
                  <a:lnTo>
                    <a:pt x="276745" y="65976"/>
                  </a:lnTo>
                  <a:lnTo>
                    <a:pt x="311440" y="65976"/>
                  </a:lnTo>
                  <a:lnTo>
                    <a:pt x="311226" y="63258"/>
                  </a:lnTo>
                  <a:close/>
                </a:path>
                <a:path extrusionOk="0" h="155575" w="433070">
                  <a:moveTo>
                    <a:pt x="386715" y="0"/>
                  </a:moveTo>
                  <a:lnTo>
                    <a:pt x="329514" y="4508"/>
                  </a:lnTo>
                  <a:lnTo>
                    <a:pt x="339483" y="131216"/>
                  </a:lnTo>
                  <a:lnTo>
                    <a:pt x="395859" y="126771"/>
                  </a:lnTo>
                  <a:lnTo>
                    <a:pt x="402628" y="125526"/>
                  </a:lnTo>
                  <a:lnTo>
                    <a:pt x="413524" y="121831"/>
                  </a:lnTo>
                  <a:lnTo>
                    <a:pt x="417982" y="119380"/>
                  </a:lnTo>
                  <a:lnTo>
                    <a:pt x="423017" y="114935"/>
                  </a:lnTo>
                  <a:lnTo>
                    <a:pt x="355079" y="114935"/>
                  </a:lnTo>
                  <a:lnTo>
                    <a:pt x="351650" y="71386"/>
                  </a:lnTo>
                  <a:lnTo>
                    <a:pt x="389013" y="68440"/>
                  </a:lnTo>
                  <a:lnTo>
                    <a:pt x="424743" y="68440"/>
                  </a:lnTo>
                  <a:lnTo>
                    <a:pt x="420027" y="63157"/>
                  </a:lnTo>
                  <a:lnTo>
                    <a:pt x="413842" y="59791"/>
                  </a:lnTo>
                  <a:lnTo>
                    <a:pt x="405993" y="58140"/>
                  </a:lnTo>
                  <a:lnTo>
                    <a:pt x="408866" y="56426"/>
                  </a:lnTo>
                  <a:lnTo>
                    <a:pt x="350469" y="56426"/>
                  </a:lnTo>
                  <a:lnTo>
                    <a:pt x="347446" y="18148"/>
                  </a:lnTo>
                  <a:lnTo>
                    <a:pt x="381876" y="15430"/>
                  </a:lnTo>
                  <a:lnTo>
                    <a:pt x="416709" y="15430"/>
                  </a:lnTo>
                  <a:lnTo>
                    <a:pt x="411581" y="8470"/>
                  </a:lnTo>
                  <a:lnTo>
                    <a:pt x="406692" y="4876"/>
                  </a:lnTo>
                  <a:lnTo>
                    <a:pt x="394589" y="673"/>
                  </a:lnTo>
                  <a:lnTo>
                    <a:pt x="386715" y="0"/>
                  </a:lnTo>
                  <a:close/>
                </a:path>
                <a:path extrusionOk="0" h="155575" w="433070">
                  <a:moveTo>
                    <a:pt x="424743" y="68440"/>
                  </a:moveTo>
                  <a:lnTo>
                    <a:pt x="389013" y="68440"/>
                  </a:lnTo>
                  <a:lnTo>
                    <a:pt x="395249" y="68656"/>
                  </a:lnTo>
                  <a:lnTo>
                    <a:pt x="404050" y="70802"/>
                  </a:lnTo>
                  <a:lnTo>
                    <a:pt x="407606" y="72986"/>
                  </a:lnTo>
                  <a:lnTo>
                    <a:pt x="412991" y="79578"/>
                  </a:lnTo>
                  <a:lnTo>
                    <a:pt x="414528" y="83591"/>
                  </a:lnTo>
                  <a:lnTo>
                    <a:pt x="415213" y="92341"/>
                  </a:lnTo>
                  <a:lnTo>
                    <a:pt x="414655" y="95973"/>
                  </a:lnTo>
                  <a:lnTo>
                    <a:pt x="397979" y="110947"/>
                  </a:lnTo>
                  <a:lnTo>
                    <a:pt x="395820" y="111531"/>
                  </a:lnTo>
                  <a:lnTo>
                    <a:pt x="392036" y="112026"/>
                  </a:lnTo>
                  <a:lnTo>
                    <a:pt x="355079" y="114935"/>
                  </a:lnTo>
                  <a:lnTo>
                    <a:pt x="423017" y="114935"/>
                  </a:lnTo>
                  <a:lnTo>
                    <a:pt x="424916" y="113258"/>
                  </a:lnTo>
                  <a:lnTo>
                    <a:pt x="427710" y="109093"/>
                  </a:lnTo>
                  <a:lnTo>
                    <a:pt x="431914" y="98488"/>
                  </a:lnTo>
                  <a:lnTo>
                    <a:pt x="432739" y="92875"/>
                  </a:lnTo>
                  <a:lnTo>
                    <a:pt x="431685" y="79565"/>
                  </a:lnTo>
                  <a:lnTo>
                    <a:pt x="429120" y="73342"/>
                  </a:lnTo>
                  <a:lnTo>
                    <a:pt x="424743" y="68440"/>
                  </a:lnTo>
                  <a:close/>
                </a:path>
                <a:path extrusionOk="0" h="155575" w="433070">
                  <a:moveTo>
                    <a:pt x="416709" y="15430"/>
                  </a:moveTo>
                  <a:lnTo>
                    <a:pt x="381876" y="15430"/>
                  </a:lnTo>
                  <a:lnTo>
                    <a:pt x="388353" y="15519"/>
                  </a:lnTo>
                  <a:lnTo>
                    <a:pt x="396024" y="17284"/>
                  </a:lnTo>
                  <a:lnTo>
                    <a:pt x="399072" y="19253"/>
                  </a:lnTo>
                  <a:lnTo>
                    <a:pt x="403618" y="25323"/>
                  </a:lnTo>
                  <a:lnTo>
                    <a:pt x="404914" y="28956"/>
                  </a:lnTo>
                  <a:lnTo>
                    <a:pt x="405599" y="37592"/>
                  </a:lnTo>
                  <a:lnTo>
                    <a:pt x="404799" y="41363"/>
                  </a:lnTo>
                  <a:lnTo>
                    <a:pt x="400951" y="47586"/>
                  </a:lnTo>
                  <a:lnTo>
                    <a:pt x="397903" y="49936"/>
                  </a:lnTo>
                  <a:lnTo>
                    <a:pt x="393738" y="51536"/>
                  </a:lnTo>
                  <a:lnTo>
                    <a:pt x="390588" y="52781"/>
                  </a:lnTo>
                  <a:lnTo>
                    <a:pt x="385292" y="53682"/>
                  </a:lnTo>
                  <a:lnTo>
                    <a:pt x="350469" y="56426"/>
                  </a:lnTo>
                  <a:lnTo>
                    <a:pt x="408866" y="56426"/>
                  </a:lnTo>
                  <a:lnTo>
                    <a:pt x="411695" y="54737"/>
                  </a:lnTo>
                  <a:lnTo>
                    <a:pt x="415836" y="50520"/>
                  </a:lnTo>
                  <a:lnTo>
                    <a:pt x="420954" y="40500"/>
                  </a:lnTo>
                  <a:lnTo>
                    <a:pt x="422021" y="35280"/>
                  </a:lnTo>
                  <a:lnTo>
                    <a:pt x="421144" y="24053"/>
                  </a:lnTo>
                  <a:lnTo>
                    <a:pt x="419049" y="18605"/>
                  </a:lnTo>
                  <a:lnTo>
                    <a:pt x="416709" y="15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016044" y="2883207"/>
              <a:ext cx="235436" cy="12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" name="Google Shape;99;p3"/>
            <p:cNvSpPr/>
            <p:nvPr/>
          </p:nvSpPr>
          <p:spPr>
            <a:xfrm>
              <a:off x="3031397" y="2213632"/>
              <a:ext cx="328295" cy="172085"/>
            </a:xfrm>
            <a:custGeom>
              <a:rect b="b" l="l" r="r" t="t"/>
              <a:pathLst>
                <a:path extrusionOk="0" h="172085" w="328295">
                  <a:moveTo>
                    <a:pt x="61849" y="86906"/>
                  </a:moveTo>
                  <a:lnTo>
                    <a:pt x="44869" y="86906"/>
                  </a:lnTo>
                  <a:lnTo>
                    <a:pt x="49504" y="94869"/>
                  </a:lnTo>
                  <a:lnTo>
                    <a:pt x="66929" y="124396"/>
                  </a:lnTo>
                  <a:lnTo>
                    <a:pt x="86067" y="125361"/>
                  </a:lnTo>
                  <a:lnTo>
                    <a:pt x="61849" y="86906"/>
                  </a:lnTo>
                  <a:close/>
                </a:path>
                <a:path extrusionOk="0" h="172085" w="328295">
                  <a:moveTo>
                    <a:pt x="7162" y="29184"/>
                  </a:moveTo>
                  <a:lnTo>
                    <a:pt x="36017" y="74917"/>
                  </a:lnTo>
                  <a:lnTo>
                    <a:pt x="0" y="121005"/>
                  </a:lnTo>
                  <a:lnTo>
                    <a:pt x="18872" y="121958"/>
                  </a:lnTo>
                  <a:lnTo>
                    <a:pt x="44869" y="86906"/>
                  </a:lnTo>
                  <a:lnTo>
                    <a:pt x="61849" y="86906"/>
                  </a:lnTo>
                  <a:lnTo>
                    <a:pt x="54330" y="74968"/>
                  </a:lnTo>
                  <a:lnTo>
                    <a:pt x="64026" y="63068"/>
                  </a:lnTo>
                  <a:lnTo>
                    <a:pt x="45554" y="63068"/>
                  </a:lnTo>
                  <a:lnTo>
                    <a:pt x="44081" y="60223"/>
                  </a:lnTo>
                  <a:lnTo>
                    <a:pt x="42113" y="56680"/>
                  </a:lnTo>
                  <a:lnTo>
                    <a:pt x="39662" y="52438"/>
                  </a:lnTo>
                  <a:lnTo>
                    <a:pt x="26644" y="30175"/>
                  </a:lnTo>
                  <a:lnTo>
                    <a:pt x="7162" y="29184"/>
                  </a:lnTo>
                  <a:close/>
                </a:path>
                <a:path extrusionOk="0" h="172085" w="328295">
                  <a:moveTo>
                    <a:pt x="69672" y="32346"/>
                  </a:moveTo>
                  <a:lnTo>
                    <a:pt x="53086" y="53289"/>
                  </a:lnTo>
                  <a:lnTo>
                    <a:pt x="50800" y="56134"/>
                  </a:lnTo>
                  <a:lnTo>
                    <a:pt x="48285" y="59385"/>
                  </a:lnTo>
                  <a:lnTo>
                    <a:pt x="45554" y="63068"/>
                  </a:lnTo>
                  <a:lnTo>
                    <a:pt x="64026" y="63068"/>
                  </a:lnTo>
                  <a:lnTo>
                    <a:pt x="88290" y="33286"/>
                  </a:lnTo>
                  <a:lnTo>
                    <a:pt x="69672" y="32346"/>
                  </a:lnTo>
                  <a:close/>
                </a:path>
                <a:path extrusionOk="0" h="172085" w="328295">
                  <a:moveTo>
                    <a:pt x="133705" y="0"/>
                  </a:moveTo>
                  <a:lnTo>
                    <a:pt x="104736" y="27216"/>
                  </a:lnTo>
                  <a:lnTo>
                    <a:pt x="98272" y="63220"/>
                  </a:lnTo>
                  <a:lnTo>
                    <a:pt x="98326" y="80860"/>
                  </a:lnTo>
                  <a:lnTo>
                    <a:pt x="113655" y="121506"/>
                  </a:lnTo>
                  <a:lnTo>
                    <a:pt x="145669" y="130556"/>
                  </a:lnTo>
                  <a:lnTo>
                    <a:pt x="153492" y="128447"/>
                  </a:lnTo>
                  <a:lnTo>
                    <a:pt x="166166" y="119075"/>
                  </a:lnTo>
                  <a:lnTo>
                    <a:pt x="167211" y="117627"/>
                  </a:lnTo>
                  <a:lnTo>
                    <a:pt x="144183" y="117627"/>
                  </a:lnTo>
                  <a:lnTo>
                    <a:pt x="129870" y="116903"/>
                  </a:lnTo>
                  <a:lnTo>
                    <a:pt x="114120" y="79894"/>
                  </a:lnTo>
                  <a:lnTo>
                    <a:pt x="114026" y="78029"/>
                  </a:lnTo>
                  <a:lnTo>
                    <a:pt x="114287" y="64033"/>
                  </a:lnTo>
                  <a:lnTo>
                    <a:pt x="124510" y="21577"/>
                  </a:lnTo>
                  <a:lnTo>
                    <a:pt x="134950" y="12992"/>
                  </a:lnTo>
                  <a:lnTo>
                    <a:pt x="169888" y="12992"/>
                  </a:lnTo>
                  <a:lnTo>
                    <a:pt x="169697" y="12661"/>
                  </a:lnTo>
                  <a:lnTo>
                    <a:pt x="165646" y="8483"/>
                  </a:lnTo>
                  <a:lnTo>
                    <a:pt x="155651" y="2489"/>
                  </a:lnTo>
                  <a:lnTo>
                    <a:pt x="149745" y="812"/>
                  </a:lnTo>
                  <a:lnTo>
                    <a:pt x="133705" y="0"/>
                  </a:lnTo>
                  <a:close/>
                </a:path>
                <a:path extrusionOk="0" h="172085" w="328295">
                  <a:moveTo>
                    <a:pt x="169888" y="12992"/>
                  </a:moveTo>
                  <a:lnTo>
                    <a:pt x="134950" y="12992"/>
                  </a:lnTo>
                  <a:lnTo>
                    <a:pt x="149390" y="13728"/>
                  </a:lnTo>
                  <a:lnTo>
                    <a:pt x="155282" y="17475"/>
                  </a:lnTo>
                  <a:lnTo>
                    <a:pt x="165176" y="58448"/>
                  </a:lnTo>
                  <a:lnTo>
                    <a:pt x="165071" y="64033"/>
                  </a:lnTo>
                  <a:lnTo>
                    <a:pt x="155600" y="107784"/>
                  </a:lnTo>
                  <a:lnTo>
                    <a:pt x="144183" y="117627"/>
                  </a:lnTo>
                  <a:lnTo>
                    <a:pt x="167211" y="117627"/>
                  </a:lnTo>
                  <a:lnTo>
                    <a:pt x="180216" y="78029"/>
                  </a:lnTo>
                  <a:lnTo>
                    <a:pt x="181166" y="63220"/>
                  </a:lnTo>
                  <a:lnTo>
                    <a:pt x="181122" y="49657"/>
                  </a:lnTo>
                  <a:lnTo>
                    <a:pt x="180645" y="43374"/>
                  </a:lnTo>
                  <a:lnTo>
                    <a:pt x="179705" y="37261"/>
                  </a:lnTo>
                  <a:lnTo>
                    <a:pt x="178168" y="29756"/>
                  </a:lnTo>
                  <a:lnTo>
                    <a:pt x="175869" y="23329"/>
                  </a:lnTo>
                  <a:lnTo>
                    <a:pt x="169888" y="12992"/>
                  </a:lnTo>
                  <a:close/>
                </a:path>
                <a:path extrusionOk="0" h="172085" w="328295">
                  <a:moveTo>
                    <a:pt x="203327" y="113499"/>
                  </a:moveTo>
                  <a:lnTo>
                    <a:pt x="202438" y="131254"/>
                  </a:lnTo>
                  <a:lnTo>
                    <a:pt x="211264" y="131699"/>
                  </a:lnTo>
                  <a:lnTo>
                    <a:pt x="210820" y="136944"/>
                  </a:lnTo>
                  <a:lnTo>
                    <a:pt x="209753" y="140931"/>
                  </a:lnTo>
                  <a:lnTo>
                    <a:pt x="206349" y="146367"/>
                  </a:lnTo>
                  <a:lnTo>
                    <a:pt x="203822" y="148361"/>
                  </a:lnTo>
                  <a:lnTo>
                    <a:pt x="200456" y="149644"/>
                  </a:lnTo>
                  <a:lnTo>
                    <a:pt x="204457" y="156527"/>
                  </a:lnTo>
                  <a:lnTo>
                    <a:pt x="221081" y="114401"/>
                  </a:lnTo>
                  <a:lnTo>
                    <a:pt x="203327" y="113499"/>
                  </a:lnTo>
                  <a:close/>
                </a:path>
                <a:path extrusionOk="0" h="172085" w="328295">
                  <a:moveTo>
                    <a:pt x="244347" y="154216"/>
                  </a:moveTo>
                  <a:lnTo>
                    <a:pt x="245338" y="168935"/>
                  </a:lnTo>
                  <a:lnTo>
                    <a:pt x="248970" y="170383"/>
                  </a:lnTo>
                  <a:lnTo>
                    <a:pt x="252285" y="171196"/>
                  </a:lnTo>
                  <a:lnTo>
                    <a:pt x="260261" y="171589"/>
                  </a:lnTo>
                  <a:lnTo>
                    <a:pt x="264591" y="170611"/>
                  </a:lnTo>
                  <a:lnTo>
                    <a:pt x="271983" y="166179"/>
                  </a:lnTo>
                  <a:lnTo>
                    <a:pt x="275348" y="162572"/>
                  </a:lnTo>
                  <a:lnTo>
                    <a:pt x="279223" y="156222"/>
                  </a:lnTo>
                  <a:lnTo>
                    <a:pt x="256667" y="156222"/>
                  </a:lnTo>
                  <a:lnTo>
                    <a:pt x="250659" y="155917"/>
                  </a:lnTo>
                  <a:lnTo>
                    <a:pt x="247713" y="155308"/>
                  </a:lnTo>
                  <a:lnTo>
                    <a:pt x="244347" y="154216"/>
                  </a:lnTo>
                  <a:close/>
                </a:path>
                <a:path extrusionOk="0" h="172085" w="328295">
                  <a:moveTo>
                    <a:pt x="243649" y="41160"/>
                  </a:moveTo>
                  <a:lnTo>
                    <a:pt x="273875" y="135051"/>
                  </a:lnTo>
                  <a:lnTo>
                    <a:pt x="272630" y="137934"/>
                  </a:lnTo>
                  <a:lnTo>
                    <a:pt x="272300" y="138785"/>
                  </a:lnTo>
                  <a:lnTo>
                    <a:pt x="256667" y="156222"/>
                  </a:lnTo>
                  <a:lnTo>
                    <a:pt x="279223" y="156222"/>
                  </a:lnTo>
                  <a:lnTo>
                    <a:pt x="280657" y="153873"/>
                  </a:lnTo>
                  <a:lnTo>
                    <a:pt x="283921" y="147066"/>
                  </a:lnTo>
                  <a:lnTo>
                    <a:pt x="296544" y="117856"/>
                  </a:lnTo>
                  <a:lnTo>
                    <a:pt x="282473" y="117856"/>
                  </a:lnTo>
                  <a:lnTo>
                    <a:pt x="280885" y="110312"/>
                  </a:lnTo>
                  <a:lnTo>
                    <a:pt x="279031" y="103098"/>
                  </a:lnTo>
                  <a:lnTo>
                    <a:pt x="276885" y="96227"/>
                  </a:lnTo>
                  <a:lnTo>
                    <a:pt x="260451" y="42011"/>
                  </a:lnTo>
                  <a:lnTo>
                    <a:pt x="243649" y="41160"/>
                  </a:lnTo>
                  <a:close/>
                </a:path>
                <a:path extrusionOk="0" h="172085" w="328295">
                  <a:moveTo>
                    <a:pt x="312318" y="44627"/>
                  </a:moveTo>
                  <a:lnTo>
                    <a:pt x="289941" y="97231"/>
                  </a:lnTo>
                  <a:lnTo>
                    <a:pt x="287121" y="103911"/>
                  </a:lnTo>
                  <a:lnTo>
                    <a:pt x="284632" y="110794"/>
                  </a:lnTo>
                  <a:lnTo>
                    <a:pt x="282473" y="117856"/>
                  </a:lnTo>
                  <a:lnTo>
                    <a:pt x="296544" y="117856"/>
                  </a:lnTo>
                  <a:lnTo>
                    <a:pt x="327901" y="45415"/>
                  </a:lnTo>
                  <a:lnTo>
                    <a:pt x="312318" y="446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0" name="Google Shape;100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29838" y="2422212"/>
              <a:ext cx="82897" cy="1305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" name="Google Shape;101;p3"/>
            <p:cNvSpPr/>
            <p:nvPr/>
          </p:nvSpPr>
          <p:spPr>
            <a:xfrm>
              <a:off x="4100812" y="2435797"/>
              <a:ext cx="433070" cy="155575"/>
            </a:xfrm>
            <a:custGeom>
              <a:rect b="b" l="l" r="r" t="t"/>
              <a:pathLst>
                <a:path extrusionOk="0" h="155575" w="433070">
                  <a:moveTo>
                    <a:pt x="16078" y="64338"/>
                  </a:moveTo>
                  <a:lnTo>
                    <a:pt x="0" y="65595"/>
                  </a:lnTo>
                  <a:lnTo>
                    <a:pt x="35318" y="155168"/>
                  </a:lnTo>
                  <a:lnTo>
                    <a:pt x="51562" y="153885"/>
                  </a:lnTo>
                  <a:lnTo>
                    <a:pt x="54898" y="135432"/>
                  </a:lnTo>
                  <a:lnTo>
                    <a:pt x="41846" y="135432"/>
                  </a:lnTo>
                  <a:lnTo>
                    <a:pt x="16078" y="64338"/>
                  </a:lnTo>
                  <a:close/>
                </a:path>
                <a:path extrusionOk="0" h="155575" w="433070">
                  <a:moveTo>
                    <a:pt x="78985" y="81813"/>
                  </a:moveTo>
                  <a:lnTo>
                    <a:pt x="64592" y="81813"/>
                  </a:lnTo>
                  <a:lnTo>
                    <a:pt x="69367" y="97180"/>
                  </a:lnTo>
                  <a:lnTo>
                    <a:pt x="88303" y="150990"/>
                  </a:lnTo>
                  <a:lnTo>
                    <a:pt x="104457" y="149720"/>
                  </a:lnTo>
                  <a:lnTo>
                    <a:pt x="109115" y="129311"/>
                  </a:lnTo>
                  <a:lnTo>
                    <a:pt x="95377" y="129311"/>
                  </a:lnTo>
                  <a:lnTo>
                    <a:pt x="89408" y="112128"/>
                  </a:lnTo>
                  <a:lnTo>
                    <a:pt x="78985" y="81813"/>
                  </a:lnTo>
                  <a:close/>
                </a:path>
                <a:path extrusionOk="0" h="155575" w="433070">
                  <a:moveTo>
                    <a:pt x="71475" y="59969"/>
                  </a:moveTo>
                  <a:lnTo>
                    <a:pt x="55486" y="61226"/>
                  </a:lnTo>
                  <a:lnTo>
                    <a:pt x="45110" y="116128"/>
                  </a:lnTo>
                  <a:lnTo>
                    <a:pt x="41998" y="134442"/>
                  </a:lnTo>
                  <a:lnTo>
                    <a:pt x="41846" y="135432"/>
                  </a:lnTo>
                  <a:lnTo>
                    <a:pt x="54898" y="135432"/>
                  </a:lnTo>
                  <a:lnTo>
                    <a:pt x="64592" y="81813"/>
                  </a:lnTo>
                  <a:lnTo>
                    <a:pt x="78985" y="81813"/>
                  </a:lnTo>
                  <a:lnTo>
                    <a:pt x="71475" y="59969"/>
                  </a:lnTo>
                  <a:close/>
                </a:path>
                <a:path extrusionOk="0" h="155575" w="433070">
                  <a:moveTo>
                    <a:pt x="125920" y="55676"/>
                  </a:moveTo>
                  <a:lnTo>
                    <a:pt x="110794" y="56870"/>
                  </a:lnTo>
                  <a:lnTo>
                    <a:pt x="99250" y="111175"/>
                  </a:lnTo>
                  <a:lnTo>
                    <a:pt x="95377" y="129311"/>
                  </a:lnTo>
                  <a:lnTo>
                    <a:pt x="109115" y="129311"/>
                  </a:lnTo>
                  <a:lnTo>
                    <a:pt x="125920" y="55676"/>
                  </a:lnTo>
                  <a:close/>
                </a:path>
                <a:path extrusionOk="0" h="155575" w="433070">
                  <a:moveTo>
                    <a:pt x="150355" y="53759"/>
                  </a:moveTo>
                  <a:lnTo>
                    <a:pt x="130911" y="55283"/>
                  </a:lnTo>
                  <a:lnTo>
                    <a:pt x="165404" y="96926"/>
                  </a:lnTo>
                  <a:lnTo>
                    <a:pt x="135623" y="147269"/>
                  </a:lnTo>
                  <a:lnTo>
                    <a:pt x="154470" y="145783"/>
                  </a:lnTo>
                  <a:lnTo>
                    <a:pt x="175729" y="107670"/>
                  </a:lnTo>
                  <a:lnTo>
                    <a:pt x="194370" y="107670"/>
                  </a:lnTo>
                  <a:lnTo>
                    <a:pt x="183565" y="94615"/>
                  </a:lnTo>
                  <a:lnTo>
                    <a:pt x="190175" y="83947"/>
                  </a:lnTo>
                  <a:lnTo>
                    <a:pt x="173342" y="83947"/>
                  </a:lnTo>
                  <a:lnTo>
                    <a:pt x="171513" y="81305"/>
                  </a:lnTo>
                  <a:lnTo>
                    <a:pt x="169100" y="78041"/>
                  </a:lnTo>
                  <a:lnTo>
                    <a:pt x="150355" y="53759"/>
                  </a:lnTo>
                  <a:close/>
                </a:path>
                <a:path extrusionOk="0" h="155575" w="433070">
                  <a:moveTo>
                    <a:pt x="194370" y="107670"/>
                  </a:moveTo>
                  <a:lnTo>
                    <a:pt x="175729" y="107670"/>
                  </a:lnTo>
                  <a:lnTo>
                    <a:pt x="181343" y="114973"/>
                  </a:lnTo>
                  <a:lnTo>
                    <a:pt x="202438" y="142011"/>
                  </a:lnTo>
                  <a:lnTo>
                    <a:pt x="221538" y="140500"/>
                  </a:lnTo>
                  <a:lnTo>
                    <a:pt x="194370" y="107670"/>
                  </a:lnTo>
                  <a:close/>
                </a:path>
                <a:path extrusionOk="0" h="155575" w="433070">
                  <a:moveTo>
                    <a:pt x="211886" y="48907"/>
                  </a:moveTo>
                  <a:lnTo>
                    <a:pt x="193306" y="50368"/>
                  </a:lnTo>
                  <a:lnTo>
                    <a:pt x="179539" y="73279"/>
                  </a:lnTo>
                  <a:lnTo>
                    <a:pt x="177647" y="76390"/>
                  </a:lnTo>
                  <a:lnTo>
                    <a:pt x="175577" y="79946"/>
                  </a:lnTo>
                  <a:lnTo>
                    <a:pt x="173342" y="83947"/>
                  </a:lnTo>
                  <a:lnTo>
                    <a:pt x="190175" y="83947"/>
                  </a:lnTo>
                  <a:lnTo>
                    <a:pt x="211886" y="48907"/>
                  </a:lnTo>
                  <a:close/>
                </a:path>
                <a:path extrusionOk="0" h="155575" w="433070">
                  <a:moveTo>
                    <a:pt x="277979" y="81648"/>
                  </a:moveTo>
                  <a:lnTo>
                    <a:pt x="263194" y="81648"/>
                  </a:lnTo>
                  <a:lnTo>
                    <a:pt x="265938" y="116395"/>
                  </a:lnTo>
                  <a:lnTo>
                    <a:pt x="280631" y="115239"/>
                  </a:lnTo>
                  <a:lnTo>
                    <a:pt x="277979" y="81648"/>
                  </a:lnTo>
                  <a:close/>
                </a:path>
                <a:path extrusionOk="0" h="155575" w="433070">
                  <a:moveTo>
                    <a:pt x="274027" y="31496"/>
                  </a:moveTo>
                  <a:lnTo>
                    <a:pt x="259334" y="32651"/>
                  </a:lnTo>
                  <a:lnTo>
                    <a:pt x="262051" y="67132"/>
                  </a:lnTo>
                  <a:lnTo>
                    <a:pt x="227571" y="69850"/>
                  </a:lnTo>
                  <a:lnTo>
                    <a:pt x="228714" y="84366"/>
                  </a:lnTo>
                  <a:lnTo>
                    <a:pt x="263194" y="81648"/>
                  </a:lnTo>
                  <a:lnTo>
                    <a:pt x="277979" y="81648"/>
                  </a:lnTo>
                  <a:lnTo>
                    <a:pt x="277888" y="80492"/>
                  </a:lnTo>
                  <a:lnTo>
                    <a:pt x="312369" y="77774"/>
                  </a:lnTo>
                  <a:lnTo>
                    <a:pt x="311440" y="65976"/>
                  </a:lnTo>
                  <a:lnTo>
                    <a:pt x="276745" y="65976"/>
                  </a:lnTo>
                  <a:lnTo>
                    <a:pt x="274027" y="31496"/>
                  </a:lnTo>
                  <a:close/>
                </a:path>
                <a:path extrusionOk="0" h="155575" w="433070">
                  <a:moveTo>
                    <a:pt x="311226" y="63258"/>
                  </a:moveTo>
                  <a:lnTo>
                    <a:pt x="276745" y="65976"/>
                  </a:lnTo>
                  <a:lnTo>
                    <a:pt x="311440" y="65976"/>
                  </a:lnTo>
                  <a:lnTo>
                    <a:pt x="311226" y="63258"/>
                  </a:lnTo>
                  <a:close/>
                </a:path>
                <a:path extrusionOk="0" h="155575" w="433070">
                  <a:moveTo>
                    <a:pt x="386715" y="0"/>
                  </a:moveTo>
                  <a:lnTo>
                    <a:pt x="329514" y="4508"/>
                  </a:lnTo>
                  <a:lnTo>
                    <a:pt x="339483" y="131216"/>
                  </a:lnTo>
                  <a:lnTo>
                    <a:pt x="395859" y="126771"/>
                  </a:lnTo>
                  <a:lnTo>
                    <a:pt x="402628" y="125526"/>
                  </a:lnTo>
                  <a:lnTo>
                    <a:pt x="413524" y="121831"/>
                  </a:lnTo>
                  <a:lnTo>
                    <a:pt x="417982" y="119380"/>
                  </a:lnTo>
                  <a:lnTo>
                    <a:pt x="423017" y="114935"/>
                  </a:lnTo>
                  <a:lnTo>
                    <a:pt x="355079" y="114935"/>
                  </a:lnTo>
                  <a:lnTo>
                    <a:pt x="351650" y="71386"/>
                  </a:lnTo>
                  <a:lnTo>
                    <a:pt x="389013" y="68440"/>
                  </a:lnTo>
                  <a:lnTo>
                    <a:pt x="424743" y="68440"/>
                  </a:lnTo>
                  <a:lnTo>
                    <a:pt x="420027" y="63157"/>
                  </a:lnTo>
                  <a:lnTo>
                    <a:pt x="413842" y="59791"/>
                  </a:lnTo>
                  <a:lnTo>
                    <a:pt x="405993" y="58140"/>
                  </a:lnTo>
                  <a:lnTo>
                    <a:pt x="408866" y="56426"/>
                  </a:lnTo>
                  <a:lnTo>
                    <a:pt x="350469" y="56426"/>
                  </a:lnTo>
                  <a:lnTo>
                    <a:pt x="347446" y="18148"/>
                  </a:lnTo>
                  <a:lnTo>
                    <a:pt x="381876" y="15430"/>
                  </a:lnTo>
                  <a:lnTo>
                    <a:pt x="416709" y="15430"/>
                  </a:lnTo>
                  <a:lnTo>
                    <a:pt x="411581" y="8470"/>
                  </a:lnTo>
                  <a:lnTo>
                    <a:pt x="406692" y="4876"/>
                  </a:lnTo>
                  <a:lnTo>
                    <a:pt x="394589" y="673"/>
                  </a:lnTo>
                  <a:lnTo>
                    <a:pt x="386715" y="0"/>
                  </a:lnTo>
                  <a:close/>
                </a:path>
                <a:path extrusionOk="0" h="155575" w="433070">
                  <a:moveTo>
                    <a:pt x="424743" y="68440"/>
                  </a:moveTo>
                  <a:lnTo>
                    <a:pt x="389013" y="68440"/>
                  </a:lnTo>
                  <a:lnTo>
                    <a:pt x="395249" y="68656"/>
                  </a:lnTo>
                  <a:lnTo>
                    <a:pt x="404050" y="70802"/>
                  </a:lnTo>
                  <a:lnTo>
                    <a:pt x="407606" y="72986"/>
                  </a:lnTo>
                  <a:lnTo>
                    <a:pt x="412991" y="79578"/>
                  </a:lnTo>
                  <a:lnTo>
                    <a:pt x="414528" y="83591"/>
                  </a:lnTo>
                  <a:lnTo>
                    <a:pt x="415213" y="92341"/>
                  </a:lnTo>
                  <a:lnTo>
                    <a:pt x="414655" y="95973"/>
                  </a:lnTo>
                  <a:lnTo>
                    <a:pt x="397979" y="110947"/>
                  </a:lnTo>
                  <a:lnTo>
                    <a:pt x="395820" y="111531"/>
                  </a:lnTo>
                  <a:lnTo>
                    <a:pt x="392036" y="112026"/>
                  </a:lnTo>
                  <a:lnTo>
                    <a:pt x="355079" y="114935"/>
                  </a:lnTo>
                  <a:lnTo>
                    <a:pt x="423017" y="114935"/>
                  </a:lnTo>
                  <a:lnTo>
                    <a:pt x="424916" y="113258"/>
                  </a:lnTo>
                  <a:lnTo>
                    <a:pt x="427710" y="109093"/>
                  </a:lnTo>
                  <a:lnTo>
                    <a:pt x="431914" y="98488"/>
                  </a:lnTo>
                  <a:lnTo>
                    <a:pt x="432739" y="92875"/>
                  </a:lnTo>
                  <a:lnTo>
                    <a:pt x="431685" y="79565"/>
                  </a:lnTo>
                  <a:lnTo>
                    <a:pt x="429120" y="73342"/>
                  </a:lnTo>
                  <a:lnTo>
                    <a:pt x="424743" y="68440"/>
                  </a:lnTo>
                  <a:close/>
                </a:path>
                <a:path extrusionOk="0" h="155575" w="433070">
                  <a:moveTo>
                    <a:pt x="416709" y="15430"/>
                  </a:moveTo>
                  <a:lnTo>
                    <a:pt x="381876" y="15430"/>
                  </a:lnTo>
                  <a:lnTo>
                    <a:pt x="388353" y="15519"/>
                  </a:lnTo>
                  <a:lnTo>
                    <a:pt x="396024" y="17284"/>
                  </a:lnTo>
                  <a:lnTo>
                    <a:pt x="399072" y="19253"/>
                  </a:lnTo>
                  <a:lnTo>
                    <a:pt x="403618" y="25323"/>
                  </a:lnTo>
                  <a:lnTo>
                    <a:pt x="404914" y="28956"/>
                  </a:lnTo>
                  <a:lnTo>
                    <a:pt x="405599" y="37592"/>
                  </a:lnTo>
                  <a:lnTo>
                    <a:pt x="404799" y="41363"/>
                  </a:lnTo>
                  <a:lnTo>
                    <a:pt x="400951" y="47586"/>
                  </a:lnTo>
                  <a:lnTo>
                    <a:pt x="397903" y="49936"/>
                  </a:lnTo>
                  <a:lnTo>
                    <a:pt x="393738" y="51536"/>
                  </a:lnTo>
                  <a:lnTo>
                    <a:pt x="390588" y="52781"/>
                  </a:lnTo>
                  <a:lnTo>
                    <a:pt x="385292" y="53682"/>
                  </a:lnTo>
                  <a:lnTo>
                    <a:pt x="350469" y="56426"/>
                  </a:lnTo>
                  <a:lnTo>
                    <a:pt x="408866" y="56426"/>
                  </a:lnTo>
                  <a:lnTo>
                    <a:pt x="411695" y="54737"/>
                  </a:lnTo>
                  <a:lnTo>
                    <a:pt x="415836" y="50520"/>
                  </a:lnTo>
                  <a:lnTo>
                    <a:pt x="420954" y="40500"/>
                  </a:lnTo>
                  <a:lnTo>
                    <a:pt x="422021" y="35280"/>
                  </a:lnTo>
                  <a:lnTo>
                    <a:pt x="421144" y="24053"/>
                  </a:lnTo>
                  <a:lnTo>
                    <a:pt x="419049" y="18605"/>
                  </a:lnTo>
                  <a:lnTo>
                    <a:pt x="416709" y="154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2" name="Google Shape;102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547927" y="2414318"/>
              <a:ext cx="215785" cy="12843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3"/>
            <p:cNvSpPr/>
            <p:nvPr/>
          </p:nvSpPr>
          <p:spPr>
            <a:xfrm>
              <a:off x="3768483" y="3206191"/>
              <a:ext cx="722630" cy="181610"/>
            </a:xfrm>
            <a:custGeom>
              <a:rect b="b" l="l" r="r" t="t"/>
              <a:pathLst>
                <a:path extrusionOk="0" h="181610" w="722629">
                  <a:moveTo>
                    <a:pt x="125920" y="81813"/>
                  </a:moveTo>
                  <a:lnTo>
                    <a:pt x="110794" y="83007"/>
                  </a:lnTo>
                  <a:lnTo>
                    <a:pt x="99250" y="137312"/>
                  </a:lnTo>
                  <a:lnTo>
                    <a:pt x="95377" y="155448"/>
                  </a:lnTo>
                  <a:lnTo>
                    <a:pt x="89408" y="138264"/>
                  </a:lnTo>
                  <a:lnTo>
                    <a:pt x="78981" y="107950"/>
                  </a:lnTo>
                  <a:lnTo>
                    <a:pt x="71475" y="86106"/>
                  </a:lnTo>
                  <a:lnTo>
                    <a:pt x="55486" y="87363"/>
                  </a:lnTo>
                  <a:lnTo>
                    <a:pt x="45110" y="142265"/>
                  </a:lnTo>
                  <a:lnTo>
                    <a:pt x="41998" y="160578"/>
                  </a:lnTo>
                  <a:lnTo>
                    <a:pt x="41846" y="161569"/>
                  </a:lnTo>
                  <a:lnTo>
                    <a:pt x="16078" y="90474"/>
                  </a:lnTo>
                  <a:lnTo>
                    <a:pt x="0" y="91732"/>
                  </a:lnTo>
                  <a:lnTo>
                    <a:pt x="35318" y="181305"/>
                  </a:lnTo>
                  <a:lnTo>
                    <a:pt x="51562" y="180022"/>
                  </a:lnTo>
                  <a:lnTo>
                    <a:pt x="54902" y="161569"/>
                  </a:lnTo>
                  <a:lnTo>
                    <a:pt x="64592" y="107950"/>
                  </a:lnTo>
                  <a:lnTo>
                    <a:pt x="69367" y="123317"/>
                  </a:lnTo>
                  <a:lnTo>
                    <a:pt x="88303" y="177126"/>
                  </a:lnTo>
                  <a:lnTo>
                    <a:pt x="104457" y="175856"/>
                  </a:lnTo>
                  <a:lnTo>
                    <a:pt x="109118" y="155448"/>
                  </a:lnTo>
                  <a:lnTo>
                    <a:pt x="125920" y="81813"/>
                  </a:lnTo>
                  <a:close/>
                </a:path>
                <a:path extrusionOk="0" h="181610" w="722629">
                  <a:moveTo>
                    <a:pt x="221538" y="166636"/>
                  </a:moveTo>
                  <a:lnTo>
                    <a:pt x="194373" y="133807"/>
                  </a:lnTo>
                  <a:lnTo>
                    <a:pt x="183565" y="120751"/>
                  </a:lnTo>
                  <a:lnTo>
                    <a:pt x="190169" y="110083"/>
                  </a:lnTo>
                  <a:lnTo>
                    <a:pt x="211886" y="75044"/>
                  </a:lnTo>
                  <a:lnTo>
                    <a:pt x="193306" y="76504"/>
                  </a:lnTo>
                  <a:lnTo>
                    <a:pt x="179539" y="99415"/>
                  </a:lnTo>
                  <a:lnTo>
                    <a:pt x="177647" y="102527"/>
                  </a:lnTo>
                  <a:lnTo>
                    <a:pt x="175577" y="106083"/>
                  </a:lnTo>
                  <a:lnTo>
                    <a:pt x="173342" y="110083"/>
                  </a:lnTo>
                  <a:lnTo>
                    <a:pt x="171513" y="107442"/>
                  </a:lnTo>
                  <a:lnTo>
                    <a:pt x="169100" y="104178"/>
                  </a:lnTo>
                  <a:lnTo>
                    <a:pt x="150355" y="79895"/>
                  </a:lnTo>
                  <a:lnTo>
                    <a:pt x="130911" y="81419"/>
                  </a:lnTo>
                  <a:lnTo>
                    <a:pt x="165404" y="123063"/>
                  </a:lnTo>
                  <a:lnTo>
                    <a:pt x="135623" y="173405"/>
                  </a:lnTo>
                  <a:lnTo>
                    <a:pt x="154470" y="171919"/>
                  </a:lnTo>
                  <a:lnTo>
                    <a:pt x="175729" y="133807"/>
                  </a:lnTo>
                  <a:lnTo>
                    <a:pt x="181343" y="141109"/>
                  </a:lnTo>
                  <a:lnTo>
                    <a:pt x="202438" y="168148"/>
                  </a:lnTo>
                  <a:lnTo>
                    <a:pt x="221538" y="166636"/>
                  </a:lnTo>
                  <a:close/>
                </a:path>
                <a:path extrusionOk="0" h="181610" w="722629">
                  <a:moveTo>
                    <a:pt x="312369" y="103911"/>
                  </a:moveTo>
                  <a:lnTo>
                    <a:pt x="311442" y="92113"/>
                  </a:lnTo>
                  <a:lnTo>
                    <a:pt x="311226" y="89395"/>
                  </a:lnTo>
                  <a:lnTo>
                    <a:pt x="276745" y="92113"/>
                  </a:lnTo>
                  <a:lnTo>
                    <a:pt x="274027" y="57632"/>
                  </a:lnTo>
                  <a:lnTo>
                    <a:pt x="259334" y="58788"/>
                  </a:lnTo>
                  <a:lnTo>
                    <a:pt x="262051" y="93268"/>
                  </a:lnTo>
                  <a:lnTo>
                    <a:pt x="227571" y="95986"/>
                  </a:lnTo>
                  <a:lnTo>
                    <a:pt x="228714" y="110502"/>
                  </a:lnTo>
                  <a:lnTo>
                    <a:pt x="263194" y="107784"/>
                  </a:lnTo>
                  <a:lnTo>
                    <a:pt x="265938" y="142532"/>
                  </a:lnTo>
                  <a:lnTo>
                    <a:pt x="280631" y="141376"/>
                  </a:lnTo>
                  <a:lnTo>
                    <a:pt x="277977" y="107784"/>
                  </a:lnTo>
                  <a:lnTo>
                    <a:pt x="277888" y="106629"/>
                  </a:lnTo>
                  <a:lnTo>
                    <a:pt x="312369" y="103911"/>
                  </a:lnTo>
                  <a:close/>
                </a:path>
                <a:path extrusionOk="0" h="181610" w="722629">
                  <a:moveTo>
                    <a:pt x="432739" y="119011"/>
                  </a:moveTo>
                  <a:lnTo>
                    <a:pt x="431685" y="105702"/>
                  </a:lnTo>
                  <a:lnTo>
                    <a:pt x="429120" y="99479"/>
                  </a:lnTo>
                  <a:lnTo>
                    <a:pt x="424738" y="94576"/>
                  </a:lnTo>
                  <a:lnTo>
                    <a:pt x="420027" y="89293"/>
                  </a:lnTo>
                  <a:lnTo>
                    <a:pt x="415213" y="86677"/>
                  </a:lnTo>
                  <a:lnTo>
                    <a:pt x="415213" y="118478"/>
                  </a:lnTo>
                  <a:lnTo>
                    <a:pt x="414655" y="122110"/>
                  </a:lnTo>
                  <a:lnTo>
                    <a:pt x="397979" y="137083"/>
                  </a:lnTo>
                  <a:lnTo>
                    <a:pt x="395820" y="137668"/>
                  </a:lnTo>
                  <a:lnTo>
                    <a:pt x="392036" y="138163"/>
                  </a:lnTo>
                  <a:lnTo>
                    <a:pt x="355079" y="141071"/>
                  </a:lnTo>
                  <a:lnTo>
                    <a:pt x="351650" y="97523"/>
                  </a:lnTo>
                  <a:lnTo>
                    <a:pt x="389013" y="94576"/>
                  </a:lnTo>
                  <a:lnTo>
                    <a:pt x="395249" y="94792"/>
                  </a:lnTo>
                  <a:lnTo>
                    <a:pt x="415213" y="118478"/>
                  </a:lnTo>
                  <a:lnTo>
                    <a:pt x="415213" y="86677"/>
                  </a:lnTo>
                  <a:lnTo>
                    <a:pt x="413842" y="85928"/>
                  </a:lnTo>
                  <a:lnTo>
                    <a:pt x="405993" y="84277"/>
                  </a:lnTo>
                  <a:lnTo>
                    <a:pt x="408863" y="82562"/>
                  </a:lnTo>
                  <a:lnTo>
                    <a:pt x="411695" y="80873"/>
                  </a:lnTo>
                  <a:lnTo>
                    <a:pt x="415836" y="76669"/>
                  </a:lnTo>
                  <a:lnTo>
                    <a:pt x="420954" y="66636"/>
                  </a:lnTo>
                  <a:lnTo>
                    <a:pt x="422021" y="61417"/>
                  </a:lnTo>
                  <a:lnTo>
                    <a:pt x="421144" y="50190"/>
                  </a:lnTo>
                  <a:lnTo>
                    <a:pt x="405599" y="30645"/>
                  </a:lnTo>
                  <a:lnTo>
                    <a:pt x="405599" y="63728"/>
                  </a:lnTo>
                  <a:lnTo>
                    <a:pt x="404799" y="67500"/>
                  </a:lnTo>
                  <a:lnTo>
                    <a:pt x="400951" y="73723"/>
                  </a:lnTo>
                  <a:lnTo>
                    <a:pt x="397903" y="76073"/>
                  </a:lnTo>
                  <a:lnTo>
                    <a:pt x="393738" y="77673"/>
                  </a:lnTo>
                  <a:lnTo>
                    <a:pt x="390588" y="78917"/>
                  </a:lnTo>
                  <a:lnTo>
                    <a:pt x="385292" y="79819"/>
                  </a:lnTo>
                  <a:lnTo>
                    <a:pt x="350469" y="82562"/>
                  </a:lnTo>
                  <a:lnTo>
                    <a:pt x="347446" y="44284"/>
                  </a:lnTo>
                  <a:lnTo>
                    <a:pt x="381876" y="41567"/>
                  </a:lnTo>
                  <a:lnTo>
                    <a:pt x="388353" y="41656"/>
                  </a:lnTo>
                  <a:lnTo>
                    <a:pt x="405599" y="63728"/>
                  </a:lnTo>
                  <a:lnTo>
                    <a:pt x="405599" y="30645"/>
                  </a:lnTo>
                  <a:lnTo>
                    <a:pt x="394589" y="26809"/>
                  </a:lnTo>
                  <a:lnTo>
                    <a:pt x="386715" y="26136"/>
                  </a:lnTo>
                  <a:lnTo>
                    <a:pt x="329514" y="30645"/>
                  </a:lnTo>
                  <a:lnTo>
                    <a:pt x="339483" y="157353"/>
                  </a:lnTo>
                  <a:lnTo>
                    <a:pt x="395859" y="152908"/>
                  </a:lnTo>
                  <a:lnTo>
                    <a:pt x="402628" y="151663"/>
                  </a:lnTo>
                  <a:lnTo>
                    <a:pt x="413524" y="147967"/>
                  </a:lnTo>
                  <a:lnTo>
                    <a:pt x="417982" y="145516"/>
                  </a:lnTo>
                  <a:lnTo>
                    <a:pt x="423011" y="141071"/>
                  </a:lnTo>
                  <a:lnTo>
                    <a:pt x="424916" y="139395"/>
                  </a:lnTo>
                  <a:lnTo>
                    <a:pt x="427710" y="135229"/>
                  </a:lnTo>
                  <a:lnTo>
                    <a:pt x="431914" y="124625"/>
                  </a:lnTo>
                  <a:lnTo>
                    <a:pt x="432739" y="119011"/>
                  </a:lnTo>
                  <a:close/>
                </a:path>
                <a:path extrusionOk="0" h="181610" w="722629">
                  <a:moveTo>
                    <a:pt x="531914" y="67233"/>
                  </a:moveTo>
                  <a:lnTo>
                    <a:pt x="530771" y="52717"/>
                  </a:lnTo>
                  <a:lnTo>
                    <a:pt x="447116" y="59309"/>
                  </a:lnTo>
                  <a:lnTo>
                    <a:pt x="448259" y="73825"/>
                  </a:lnTo>
                  <a:lnTo>
                    <a:pt x="531914" y="67233"/>
                  </a:lnTo>
                  <a:close/>
                </a:path>
                <a:path extrusionOk="0" h="181610" w="722629">
                  <a:moveTo>
                    <a:pt x="534949" y="105689"/>
                  </a:moveTo>
                  <a:lnTo>
                    <a:pt x="533793" y="91173"/>
                  </a:lnTo>
                  <a:lnTo>
                    <a:pt x="450138" y="97764"/>
                  </a:lnTo>
                  <a:lnTo>
                    <a:pt x="451281" y="112280"/>
                  </a:lnTo>
                  <a:lnTo>
                    <a:pt x="534949" y="105689"/>
                  </a:lnTo>
                  <a:close/>
                </a:path>
                <a:path extrusionOk="0" h="181610" w="722629">
                  <a:moveTo>
                    <a:pt x="647369" y="94843"/>
                  </a:moveTo>
                  <a:lnTo>
                    <a:pt x="646137" y="79197"/>
                  </a:lnTo>
                  <a:lnTo>
                    <a:pt x="598347" y="82956"/>
                  </a:lnTo>
                  <a:lnTo>
                    <a:pt x="599579" y="98602"/>
                  </a:lnTo>
                  <a:lnTo>
                    <a:pt x="647369" y="94843"/>
                  </a:lnTo>
                  <a:close/>
                </a:path>
                <a:path extrusionOk="0" h="181610" w="722629">
                  <a:moveTo>
                    <a:pt x="722147" y="127215"/>
                  </a:moveTo>
                  <a:lnTo>
                    <a:pt x="712127" y="0"/>
                  </a:lnTo>
                  <a:lnTo>
                    <a:pt x="702106" y="787"/>
                  </a:lnTo>
                  <a:lnTo>
                    <a:pt x="699820" y="6477"/>
                  </a:lnTo>
                  <a:lnTo>
                    <a:pt x="695655" y="12484"/>
                  </a:lnTo>
                  <a:lnTo>
                    <a:pt x="667956" y="35483"/>
                  </a:lnTo>
                  <a:lnTo>
                    <a:pt x="669150" y="50520"/>
                  </a:lnTo>
                  <a:lnTo>
                    <a:pt x="698779" y="29311"/>
                  </a:lnTo>
                  <a:lnTo>
                    <a:pt x="706589" y="128435"/>
                  </a:lnTo>
                  <a:lnTo>
                    <a:pt x="722147" y="1272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4" name="Google Shape;104;p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451859" y="2642616"/>
              <a:ext cx="107441" cy="5516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" name="Google Shape;105;p3"/>
            <p:cNvSpPr/>
            <p:nvPr/>
          </p:nvSpPr>
          <p:spPr>
            <a:xfrm>
              <a:off x="3505581" y="2663571"/>
              <a:ext cx="0" cy="457200"/>
            </a:xfrm>
            <a:custGeom>
              <a:rect b="b" l="l" r="r" t="t"/>
              <a:pathLst>
                <a:path extrusionOk="0" h="457200" w="120000">
                  <a:moveTo>
                    <a:pt x="0" y="0"/>
                  </a:moveTo>
                  <a:lnTo>
                    <a:pt x="0" y="457200"/>
                  </a:lnTo>
                </a:path>
              </a:pathLst>
            </a:custGeom>
            <a:noFill/>
            <a:ln cap="flat" cmpd="sng" w="25125">
              <a:solidFill>
                <a:srgbClr val="03A1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" name="Google Shape;106;p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623522" y="2899661"/>
              <a:ext cx="127266" cy="107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482852" y="3019805"/>
              <a:ext cx="5798057" cy="2354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3"/>
            <p:cNvSpPr/>
            <p:nvPr/>
          </p:nvSpPr>
          <p:spPr>
            <a:xfrm>
              <a:off x="1524381" y="3117761"/>
              <a:ext cx="5575300" cy="3810"/>
            </a:xfrm>
            <a:custGeom>
              <a:rect b="b" l="l" r="r" t="t"/>
              <a:pathLst>
                <a:path extrusionOk="0" h="3810" w="5575300">
                  <a:moveTo>
                    <a:pt x="0" y="3555"/>
                  </a:moveTo>
                  <a:lnTo>
                    <a:pt x="5575300" y="0"/>
                  </a:lnTo>
                </a:path>
              </a:pathLst>
            </a:custGeom>
            <a:noFill/>
            <a:ln cap="flat" cmpd="sng" w="25125">
              <a:solidFill>
                <a:srgbClr val="03A1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7086955" y="3079675"/>
              <a:ext cx="76835" cy="76200"/>
            </a:xfrm>
            <a:custGeom>
              <a:rect b="b" l="l" r="r" t="t"/>
              <a:pathLst>
                <a:path extrusionOk="0" h="76200" w="76834">
                  <a:moveTo>
                    <a:pt x="0" y="0"/>
                  </a:moveTo>
                  <a:lnTo>
                    <a:pt x="50" y="76200"/>
                  </a:lnTo>
                  <a:lnTo>
                    <a:pt x="76225" y="380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1D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0" name="Google Shape;110;p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51838" y="1158240"/>
              <a:ext cx="307085" cy="30647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" name="Google Shape;111;p3"/>
            <p:cNvSpPr/>
            <p:nvPr/>
          </p:nvSpPr>
          <p:spPr>
            <a:xfrm>
              <a:off x="1905381" y="1316865"/>
              <a:ext cx="0" cy="2845435"/>
            </a:xfrm>
            <a:custGeom>
              <a:rect b="b" l="l" r="r" t="t"/>
              <a:pathLst>
                <a:path extrusionOk="0" h="2845435" w="120000">
                  <a:moveTo>
                    <a:pt x="0" y="2845320"/>
                  </a:moveTo>
                  <a:lnTo>
                    <a:pt x="0" y="0"/>
                  </a:lnTo>
                </a:path>
              </a:pathLst>
            </a:custGeom>
            <a:noFill/>
            <a:ln cap="flat" cmpd="sng" w="25125">
              <a:solidFill>
                <a:srgbClr val="03A1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1860936" y="1316862"/>
              <a:ext cx="88900" cy="76200"/>
            </a:xfrm>
            <a:custGeom>
              <a:rect b="b" l="l" r="r" t="t"/>
              <a:pathLst>
                <a:path extrusionOk="0" h="76200" w="88900">
                  <a:moveTo>
                    <a:pt x="88900" y="76200"/>
                  </a:moveTo>
                  <a:lnTo>
                    <a:pt x="44450" y="0"/>
                  </a:lnTo>
                  <a:lnTo>
                    <a:pt x="0" y="76200"/>
                  </a:lnTo>
                </a:path>
              </a:pathLst>
            </a:custGeom>
            <a:noFill/>
            <a:ln cap="flat" cmpd="sng" w="25125">
              <a:solidFill>
                <a:srgbClr val="03A1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3"/>
          <p:cNvSpPr txBox="1"/>
          <p:nvPr/>
        </p:nvSpPr>
        <p:spPr>
          <a:xfrm>
            <a:off x="6477380" y="1596771"/>
            <a:ext cx="3581400" cy="739140"/>
          </a:xfrm>
          <a:prstGeom prst="rect">
            <a:avLst/>
          </a:prstGeom>
          <a:solidFill>
            <a:srgbClr val="FFFF00"/>
          </a:solidFill>
          <a:ln cap="flat" cmpd="sng" w="99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0625">
            <a:spAutoFit/>
          </a:bodyPr>
          <a:lstStyle/>
          <a:p>
            <a:pPr indent="0" lvl="0" marL="90805" marR="575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distance from a point(x0,y0) to a line: Ax+By+c = 0 is: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0052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|Ax0 +By0 +c|/sqrt(A^2+B^2)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6022340" y="3301239"/>
            <a:ext cx="2520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H2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7241548" y="2996393"/>
            <a:ext cx="2520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184145" y="2463045"/>
            <a:ext cx="25209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H1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699627" y="2539212"/>
            <a:ext cx="1244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1699627" y="2996393"/>
            <a:ext cx="12446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0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1678854" y="3374388"/>
            <a:ext cx="18415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-1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907539" y="3682431"/>
            <a:ext cx="8321700" cy="2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4127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 = distance between H0 and H1 is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127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|w•x+b|/||w||=1/||w||,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1732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total distance between H1 and H2 is thus: 2/||w||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27813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 startAt="2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Think in terms of multi-dimensional space. SVM algorithm has to find the combination of weights across the dimensions such that they hyperplane has max possible margin around it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4170" lvl="0" marL="356870" rtl="0" algn="just">
              <a:lnSpc>
                <a:spcPct val="100000"/>
              </a:lnSpc>
              <a:spcBef>
                <a:spcPts val="385"/>
              </a:spcBef>
              <a:spcAft>
                <a:spcPts val="0"/>
              </a:spcAft>
              <a:buSzPts val="1600"/>
              <a:buFont typeface="Arial"/>
              <a:buAutoNum type="arabicPeriod" startAt="2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All the predictor variables have to be numeric and scaled.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Allowing Errors</a:t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2016396" y="4760338"/>
            <a:ext cx="8035925" cy="1464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Data in real world is typically not linearly separable.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There will always be instances that a linear classifier can’t get right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5080" rtl="0" algn="l">
              <a:lnSpc>
                <a:spcPct val="150100"/>
              </a:lnSpc>
              <a:spcBef>
                <a:spcPts val="38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SVM provides a complexity parameter, a tradeoff between: wide margin with errors or a tight margin with minimal errors. As C increases, margins become tighter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2517139" y="2849822"/>
            <a:ext cx="342836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Image Source : https://dzone.com/articles/support- vector-machines-tutorial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67118" y="1166622"/>
            <a:ext cx="1999092" cy="159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5397" y="1133007"/>
            <a:ext cx="4210979" cy="336997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Linearly Non Separable Data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5188817" y="3530272"/>
            <a:ext cx="50800" cy="170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4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-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1823986" y="3503136"/>
            <a:ext cx="8424545" cy="2759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5269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Image Source : https://dzone.com/articles/support vector-machines-tutorial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75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44170" lvl="0" marL="35687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When data is not linearly separable, SVM uses kernel trick to make it linearly separable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5080" rtl="0" algn="just">
              <a:lnSpc>
                <a:spcPct val="150000"/>
              </a:lnSpc>
              <a:spcBef>
                <a:spcPts val="384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This concept is based on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Cover’s theorem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“given a set of training data that is not linearly separable, with high probability it can be transformed into a linearly separable training set by projecting it into a higher-dimensional space via some non-linear transformation”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4965" marR="100330" rtl="0" algn="just">
              <a:lnSpc>
                <a:spcPct val="150000"/>
              </a:lnSpc>
              <a:spcBef>
                <a:spcPts val="38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	In the pic above, replace x1 with x1^2, x2 with x2^2 and create a third dimension   x3 = sqrt(2x1x2)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5"/>
          <p:cNvGrpSpPr/>
          <p:nvPr/>
        </p:nvGrpSpPr>
        <p:grpSpPr>
          <a:xfrm>
            <a:off x="1970532" y="1076705"/>
            <a:ext cx="7907273" cy="3038081"/>
            <a:chOff x="1970532" y="1076705"/>
            <a:chExt cx="7907273" cy="3038081"/>
          </a:xfrm>
        </p:grpSpPr>
        <p:pic>
          <p:nvPicPr>
            <p:cNvPr id="140" name="Google Shape;140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970532" y="1619250"/>
              <a:ext cx="2262726" cy="17647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181600" y="1076705"/>
              <a:ext cx="4696205" cy="303808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45279" y="2180082"/>
              <a:ext cx="1085087" cy="5966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965954" y="2596133"/>
              <a:ext cx="75437" cy="7543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4208526" y="2578227"/>
              <a:ext cx="728090" cy="933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208526" y="2322576"/>
              <a:ext cx="728090" cy="10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191380" y="2210180"/>
              <a:ext cx="990599" cy="4907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" name="Google Shape;147;p5"/>
            <p:cNvSpPr/>
            <p:nvPr/>
          </p:nvSpPr>
          <p:spPr>
            <a:xfrm>
              <a:off x="4191380" y="2210180"/>
              <a:ext cx="990600" cy="490855"/>
            </a:xfrm>
            <a:custGeom>
              <a:rect b="b" l="l" r="r" t="t"/>
              <a:pathLst>
                <a:path extrusionOk="0" h="490855" w="990600">
                  <a:moveTo>
                    <a:pt x="0" y="122682"/>
                  </a:moveTo>
                  <a:lnTo>
                    <a:pt x="745236" y="122682"/>
                  </a:lnTo>
                  <a:lnTo>
                    <a:pt x="745236" y="0"/>
                  </a:lnTo>
                  <a:lnTo>
                    <a:pt x="990600" y="245364"/>
                  </a:lnTo>
                  <a:lnTo>
                    <a:pt x="745236" y="490728"/>
                  </a:lnTo>
                  <a:lnTo>
                    <a:pt x="745236" y="368046"/>
                  </a:lnTo>
                  <a:lnTo>
                    <a:pt x="0" y="368046"/>
                  </a:lnTo>
                  <a:lnTo>
                    <a:pt x="0" y="122682"/>
                  </a:lnTo>
                  <a:close/>
                </a:path>
              </a:pathLst>
            </a:custGeom>
            <a:noFill/>
            <a:ln cap="flat" cmpd="sng" w="9900">
              <a:solidFill>
                <a:srgbClr val="00A0D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8" name="Google Shape;148;p5"/>
          <p:cNvSpPr txBox="1"/>
          <p:nvPr/>
        </p:nvSpPr>
        <p:spPr>
          <a:xfrm>
            <a:off x="4312889" y="2362321"/>
            <a:ext cx="623570" cy="178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Arial"/>
                <a:ea typeface="Arial"/>
                <a:cs typeface="Arial"/>
                <a:sym typeface="Arial"/>
              </a:rPr>
              <a:t>x1^2, x2^2</a:t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Linearly Non Separable Data</a:t>
            </a:r>
            <a:endParaRPr/>
          </a:p>
        </p:txBody>
      </p:sp>
      <p:sp>
        <p:nvSpPr>
          <p:cNvPr id="155" name="Google Shape;155;p6"/>
          <p:cNvSpPr txBox="1"/>
          <p:nvPr/>
        </p:nvSpPr>
        <p:spPr>
          <a:xfrm>
            <a:off x="1887580" y="4294887"/>
            <a:ext cx="7862570" cy="1098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Using kernel tricks the data points are project to higher dimensional space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data points become relatively more easily separable in higher dimension space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SVM can now be drawn between the data sets with a given complexity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791422" y="3597581"/>
            <a:ext cx="5049520" cy="2082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Image Source : https://dzone.com/articles/support-vector-machines-tutorial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2976" y="1327403"/>
            <a:ext cx="2728721" cy="2101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1623" y="1358646"/>
            <a:ext cx="2881109" cy="2103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30668" y="1327403"/>
            <a:ext cx="2656331" cy="213436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6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Basic Idea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1887457" y="1430021"/>
            <a:ext cx="7895590" cy="3512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3492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Suppose we are given training data {(x1, y1),...,(xn, yn) } 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⊂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X × R, where X denotes the space of the input patterns (e.g. X = Rd).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150000"/>
              </a:lnSpc>
              <a:spcBef>
                <a:spcPts val="380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Goal is to find a function f(x) that has at most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ε deviation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from the actually obtained targets yi for all the training data, and at the same time is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as flat as possible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600"/>
              <a:buFont typeface="Arial"/>
              <a:buAutoNum type="arabicPeriod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 other words, we do not care about errors as long as they are less than ε, but will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not accept any deviation larger than this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600"/>
              <a:buFont typeface="Arial"/>
              <a:buAutoNum type="arabicPeriod" startAt="4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 can take the form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f(x) = (w, x )+ b with w </a:t>
            </a:r>
            <a:r>
              <a:rPr lang="en-US" sz="1600" u="sng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X, b </a:t>
            </a:r>
            <a:r>
              <a:rPr lang="en-US" sz="1600" u="sng">
                <a:latin typeface="Cambria Math"/>
                <a:ea typeface="Cambria Math"/>
                <a:cs typeface="Cambria Math"/>
                <a:sym typeface="Cambria Math"/>
              </a:rPr>
              <a:t>∈ </a:t>
            </a:r>
            <a:r>
              <a:rPr b="1" lang="en-US" sz="1600" u="sng">
                <a:latin typeface="Arial"/>
                <a:ea typeface="Arial"/>
                <a:cs typeface="Arial"/>
                <a:sym typeface="Arial"/>
              </a:rPr>
              <a:t>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5"/>
              </a:spcBef>
              <a:spcAft>
                <a:spcPts val="0"/>
              </a:spcAft>
              <a:buSzPts val="1600"/>
              <a:buFont typeface="Arial"/>
              <a:buAutoNum type="arabicPeriod" startAt="4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Flatness means that one seeks a small w. One way to ensure this is to minimize the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3556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||w||^2 = (w, w).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Basic Idea</a:t>
            </a:r>
            <a:endParaRPr/>
          </a:p>
        </p:txBody>
      </p:sp>
      <p:sp>
        <p:nvSpPr>
          <p:cNvPr id="173" name="Google Shape;173;p8"/>
          <p:cNvSpPr txBox="1"/>
          <p:nvPr/>
        </p:nvSpPr>
        <p:spPr>
          <a:xfrm>
            <a:off x="1887580" y="1551687"/>
            <a:ext cx="6216650" cy="269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6.	The problem can be represented as convex optimization problem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1887580" y="3088171"/>
            <a:ext cx="8042909" cy="231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4572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AutoNum type="arabicPeriod" startAt="7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 the first picture, ||w||^2 is not minimized, neither the third constraint. Take the pointer to be x value, yi – (w, xi) – b is &lt; e i.e. diff between green dot and the line but (w, xi) + b –yi i.e. diff between line an red dot is not &lt; 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SzPts val="1600"/>
              <a:buFont typeface="Arial"/>
              <a:buAutoNum type="arabicPeriod" startAt="7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In second picture, all three constraints are met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42900" lvl="0" marL="355600" marR="5080" rtl="0" algn="l">
              <a:lnSpc>
                <a:spcPct val="150000"/>
              </a:lnSpc>
              <a:spcBef>
                <a:spcPts val="385"/>
              </a:spcBef>
              <a:spcAft>
                <a:spcPts val="0"/>
              </a:spcAft>
              <a:buSzPts val="1600"/>
              <a:buFont typeface="Arial"/>
              <a:buAutoNum type="arabicPeriod" startAt="7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Sometimes, it may not be possible to meet the constraint due to data points not being linearly separable so we may want to allow for some errors.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8378" y="2143129"/>
            <a:ext cx="2905496" cy="7433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6" name="Google Shape;176;p8"/>
          <p:cNvGrpSpPr/>
          <p:nvPr/>
        </p:nvGrpSpPr>
        <p:grpSpPr>
          <a:xfrm>
            <a:off x="6291410" y="1925198"/>
            <a:ext cx="3069674" cy="1268343"/>
            <a:chOff x="6291410" y="1925198"/>
            <a:chExt cx="3069674" cy="1268343"/>
          </a:xfrm>
        </p:grpSpPr>
        <p:pic>
          <p:nvPicPr>
            <p:cNvPr id="177" name="Google Shape;177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291410" y="1925198"/>
              <a:ext cx="3069674" cy="104389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769607" y="2904744"/>
              <a:ext cx="249935" cy="288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822566" y="2930271"/>
              <a:ext cx="144017" cy="1943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6817613" y="2925318"/>
              <a:ext cx="153924" cy="20421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6840473" y="2247900"/>
              <a:ext cx="107441" cy="6789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8"/>
            <p:cNvSpPr/>
            <p:nvPr/>
          </p:nvSpPr>
          <p:spPr>
            <a:xfrm>
              <a:off x="6894194" y="2281815"/>
              <a:ext cx="0" cy="584200"/>
            </a:xfrm>
            <a:custGeom>
              <a:rect b="b" l="l" r="r" t="t"/>
              <a:pathLst>
                <a:path extrusionOk="0" h="584200" w="120000">
                  <a:moveTo>
                    <a:pt x="0" y="583653"/>
                  </a:moveTo>
                  <a:lnTo>
                    <a:pt x="0" y="0"/>
                  </a:lnTo>
                </a:path>
              </a:pathLst>
            </a:custGeom>
            <a:noFill/>
            <a:ln cap="flat" cmpd="sng" w="251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8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Basic Idea</a:t>
            </a:r>
            <a:endParaRPr/>
          </a:p>
        </p:txBody>
      </p:sp>
      <p:sp>
        <p:nvSpPr>
          <p:cNvPr id="189" name="Google Shape;189;p9"/>
          <p:cNvSpPr txBox="1"/>
          <p:nvPr/>
        </p:nvSpPr>
        <p:spPr>
          <a:xfrm>
            <a:off x="1887580" y="1430021"/>
            <a:ext cx="7790815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10. We introduce slack variables ξi, ξ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∗ 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i to cope with otherwise infeasible constraints of the optimization problem and this is known as soft margin classifier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887660" y="3453982"/>
            <a:ext cx="746125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11. The epsilon term allows some errors i.e. data points lie within the error margins where error margins is e + epsilon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71800" y="2286000"/>
            <a:ext cx="3409949" cy="11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24166" y="2286000"/>
            <a:ext cx="1593341" cy="124815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"/>
          <p:cNvSpPr txBox="1"/>
          <p:nvPr>
            <p:ph type="title"/>
          </p:nvPr>
        </p:nvSpPr>
        <p:spPr>
          <a:xfrm>
            <a:off x="1791422" y="680053"/>
            <a:ext cx="59340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Kernel </a:t>
            </a:r>
            <a:r>
              <a:rPr lang="en-US"/>
              <a:t>Functions</a:t>
            </a:r>
            <a:endParaRPr/>
          </a:p>
        </p:txBody>
      </p:sp>
      <p:sp>
        <p:nvSpPr>
          <p:cNvPr id="199" name="Google Shape;199;p10"/>
          <p:cNvSpPr txBox="1"/>
          <p:nvPr>
            <p:ph idx="1" type="body"/>
          </p:nvPr>
        </p:nvSpPr>
        <p:spPr>
          <a:xfrm>
            <a:off x="1824079" y="1506220"/>
            <a:ext cx="7553325" cy="314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438784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/>
              <a:t>SVM libraries come packaged with some standard kernel functions such as polynomial, radial basis function (RBF), and Sigmoid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/>
              <a:t>For degree-</a:t>
            </a:r>
            <a:r>
              <a:rPr i="1" lang="en-US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/>
              <a:t>polynomials, the polynomial kernel looks like</a:t>
            </a:r>
            <a:endParaRPr/>
          </a:p>
          <a:p>
            <a:pPr indent="0" lvl="0" marL="355600" marR="13017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where x and y are input vectors in lower dimension space, c is a user specified constant (usually 1). K denotes inner product of x,y in higher dimension space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93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 startAt="3"/>
            </a:pPr>
            <a:r>
              <a:rPr lang="en-US"/>
              <a:t>RBF (Radial Basis Function) kernel on two samples x and x’ is represented as -</a:t>
            </a:r>
            <a:endParaRPr/>
          </a:p>
        </p:txBody>
      </p:sp>
      <p:sp>
        <p:nvSpPr>
          <p:cNvPr id="200" name="Google Shape;200;p10"/>
          <p:cNvSpPr txBox="1"/>
          <p:nvPr/>
        </p:nvSpPr>
        <p:spPr>
          <a:xfrm>
            <a:off x="1824159" y="5505289"/>
            <a:ext cx="7743190" cy="7575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4.	It ranges from 0 when distance between x and x’ increases (e^-infinity becomes 0) and becomes 1 when x = x’ because x – x’ = 0 and anything raised to 0 is 1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318" y="2819007"/>
            <a:ext cx="2181224" cy="28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4648200"/>
            <a:ext cx="2916637" cy="67711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0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/>
          <p:nvPr>
            <p:ph type="title"/>
          </p:nvPr>
        </p:nvSpPr>
        <p:spPr>
          <a:xfrm>
            <a:off x="1791422" y="680053"/>
            <a:ext cx="5934075" cy="528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Support Vector Machines Kernel Functions</a:t>
            </a:r>
            <a:endParaRPr/>
          </a:p>
        </p:txBody>
      </p:sp>
      <p:sp>
        <p:nvSpPr>
          <p:cNvPr id="209" name="Google Shape;209;p11"/>
          <p:cNvSpPr txBox="1"/>
          <p:nvPr/>
        </p:nvSpPr>
        <p:spPr>
          <a:xfrm>
            <a:off x="1824079" y="1636209"/>
            <a:ext cx="5758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168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AutoNum type="arabicPeriod" startAt="5"/>
            </a:pPr>
            <a:r>
              <a:rPr baseline="30000" lang="en-US" sz="2400">
                <a:latin typeface="Arial"/>
                <a:ea typeface="Arial"/>
                <a:cs typeface="Arial"/>
                <a:sym typeface="Arial"/>
              </a:rPr>
              <a:t>Sigmoid Kernel looks like	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K(X,Y)=tanh(γ</a:t>
            </a:r>
            <a:r>
              <a:rPr lang="en-US" sz="1600">
                <a:latin typeface="Cambria Math"/>
                <a:ea typeface="Cambria Math"/>
                <a:cs typeface="Cambria Math"/>
                <a:sym typeface="Cambria Math"/>
              </a:rPr>
              <a:t>⋅</a:t>
            </a: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X(transpose)Y+r)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-316865" lvl="0" marL="354965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1200"/>
              <a:buFont typeface="Arial"/>
              <a:buAutoNum type="arabicPeriod" startAt="5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Linear Kernel are of the form that represents linear equation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3788" y="3386328"/>
            <a:ext cx="7619999" cy="211226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 txBox="1"/>
          <p:nvPr/>
        </p:nvSpPr>
        <p:spPr>
          <a:xfrm>
            <a:off x="2192381" y="2957588"/>
            <a:ext cx="115760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Feature space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1"/>
          <p:cNvSpPr txBox="1"/>
          <p:nvPr/>
        </p:nvSpPr>
        <p:spPr>
          <a:xfrm>
            <a:off x="3716436" y="2957588"/>
            <a:ext cx="108140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Linear Kernel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5316658" y="2957588"/>
            <a:ext cx="94488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RBF Kernel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6916880" y="2957588"/>
            <a:ext cx="895985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Polynomial Kernel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8601437" y="2936993"/>
            <a:ext cx="668020" cy="452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Sigmoid Kernel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"/>
          <p:cNvSpPr txBox="1"/>
          <p:nvPr/>
        </p:nvSpPr>
        <p:spPr>
          <a:xfrm>
            <a:off x="2164329" y="5664277"/>
            <a:ext cx="6461125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Source: https://gist.github.com/WittmannF/60680723ed8dd0cb993051a7448f7805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1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2" name="Google Shape;222;p12"/>
          <p:cNvGraphicFramePr/>
          <p:nvPr/>
        </p:nvGraphicFramePr>
        <p:xfrm>
          <a:off x="1974850" y="12128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{FA22AE3F-4142-4F11-B99B-A4AEEC654418}</a:tableStyleId>
              </a:tblPr>
              <a:tblGrid>
                <a:gridCol w="4011300"/>
                <a:gridCol w="3836675"/>
              </a:tblGrid>
              <a:tr h="445125"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Strengths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A1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Weakness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A1DF"/>
                    </a:solidFill>
                  </a:tcPr>
                </a:tc>
              </a:tr>
              <a:tr h="730875">
                <a:tc>
                  <a:txBody>
                    <a:bodyPr/>
                    <a:lstStyle/>
                    <a:p>
                      <a:pPr indent="0" lvl="0" marL="90805" marR="126364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Very stable as it depends on the support vectors only. Not influenced by any other data point including outliers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F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Computationally intensive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FF3"/>
                    </a:solidFill>
                  </a:tcPr>
                </a:tc>
              </a:tr>
              <a:tr h="518150">
                <a:tc>
                  <a:txBody>
                    <a:bodyPr/>
                    <a:lstStyle/>
                    <a:p>
                      <a:pPr indent="0" lvl="0" marL="91440" marR="51117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Can be adapted to classification or numeric prediction problems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Prone to </a:t>
                      </a:r>
                      <a:r>
                        <a:rPr lang="en-US">
                          <a:latin typeface="Arial"/>
                          <a:ea typeface="Arial"/>
                          <a:cs typeface="Arial"/>
                          <a:sym typeface="Arial"/>
                        </a:rPr>
                        <a:t>overfitting</a:t>
                      </a: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training data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8"/>
                    </a:solidFill>
                  </a:tcPr>
                </a:tc>
              </a:tr>
              <a:tr h="878200">
                <a:tc>
                  <a:txBody>
                    <a:bodyPr/>
                    <a:lstStyle/>
                    <a:p>
                      <a:pPr indent="0" lvl="0" marL="90805" marR="33274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Capable of modelling relatively more complex patterns than nearly any algorithm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F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28702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Assumes linear relation between dependent and independent variables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FF3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indent="0" lvl="0" marL="90805" marR="34480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Makes no assumptions about underlying data sets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9080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Generally treated as a blackbox model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06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7EFF8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12"/>
          <p:cNvSpPr txBox="1"/>
          <p:nvPr/>
        </p:nvSpPr>
        <p:spPr>
          <a:xfrm>
            <a:off x="1791422" y="680053"/>
            <a:ext cx="49276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Machine Learning (Support Vector Machines)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2"/>
          <p:cNvSpPr txBox="1"/>
          <p:nvPr>
            <p:ph idx="12" type="sldNum"/>
          </p:nvPr>
        </p:nvSpPr>
        <p:spPr>
          <a:xfrm>
            <a:off x="67852" y="6641177"/>
            <a:ext cx="231140" cy="167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med">
    <p:wipe dir="d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2024-11-29T09:23:29Z</dcterms:created>
  <dc:creator>Valued Customer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2024-11-29T00:00:00Z</vt:filetime>
  </property>
  <property fmtid="{D5CDD505-2E9C-101B-9397-08002B2CF9AE}" pid="5" name="Producer">
    <vt:lpwstr>Adobe PDF Library 23.1.125</vt:lpwstr>
  </property>
</Properties>
</file>